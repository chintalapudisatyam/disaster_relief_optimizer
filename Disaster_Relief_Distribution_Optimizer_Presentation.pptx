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4811" y="539496"/>
            <a:ext cx="109728" cy="1413207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952" y="2002536"/>
            <a:ext cx="9875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89C4FF"/>
                </a:solidFill>
                <a:latin typeface="Aptos"/>
              </a:defRPr>
            </a:pPr>
            <a:r>
              <a:rPr dirty="0"/>
              <a:t>OPERATIONS RESEARCH •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39496"/>
            <a:ext cx="5277279" cy="141320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4000" dirty="0"/>
              <a:t>Disaster Relief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4000" dirty="0"/>
              <a:t>Distribution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952" y="3813048"/>
            <a:ext cx="94183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DAE5F4"/>
                </a:solidFill>
                <a:latin typeface="Aptos"/>
              </a:defRPr>
            </a:pPr>
            <a:r>
              <a:rPr dirty="0"/>
              <a:t>A Linear Programming approach to allocating limited relief supplies efficiently and fairly.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" y="4663440"/>
            <a:ext cx="3794760" cy="621792"/>
          </a:xfrm>
          <a:prstGeom prst="roundRect">
            <a:avLst>
              <a:gd name="adj" fmla="val 12000"/>
            </a:avLst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809744"/>
            <a:ext cx="34747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PROJECT OVERVIEW &amp; 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989320"/>
            <a:ext cx="5642763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ECDE1"/>
                </a:solidFill>
                <a:latin typeface="Aptos"/>
              </a:defRPr>
            </a:pPr>
            <a:r>
              <a:rPr sz="1600" dirty="0"/>
              <a:t>Sample scenario • 3 warehouses • 4 affected areas • 3 vehicles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ECDE1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080" y="384048"/>
            <a:ext cx="7381380" cy="58477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rPr sz="3200" dirty="0"/>
              <a:t>The problem: relief supplies are 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1045330" cy="54864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33415"/>
            <a:ext cx="8021940" cy="4001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E84"/>
                </a:solidFill>
                <a:latin typeface="Aptos"/>
              </a:defRPr>
            </a:pPr>
            <a:r>
              <a:rPr sz="2000" dirty="0"/>
              <a:t>Disasters create urgent distribution decisions across multiple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651760" cy="1874519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874519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LIMITED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375330" cy="55143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Warehouses have finite quantities 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of food, water and medicine.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651760" cy="1874519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691640"/>
            <a:ext cx="73152" cy="1874519"/>
          </a:xfrm>
          <a:prstGeom prst="rect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1856232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TRANSPORT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9876" y="2323680"/>
            <a:ext cx="2326342" cy="55143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Shipping costs vary by warehouse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 and destination.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2651760" cy="1874519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73152" cy="1874519"/>
          </a:xfrm>
          <a:prstGeom prst="rect">
            <a:avLst/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CAPACITY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86000"/>
            <a:ext cx="2283959" cy="55143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Vehicles can carry only a 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limited amount per available trip.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91640"/>
            <a:ext cx="2514600" cy="1874519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6840" y="1691640"/>
            <a:ext cx="73152" cy="1874519"/>
          </a:xfrm>
          <a:prstGeom prst="rect">
            <a:avLst/>
          </a:prstGeom>
          <a:solidFill>
            <a:srgbClr val="CE4141"/>
          </a:solidFill>
          <a:ln>
            <a:solidFill>
              <a:srgbClr val="C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8008" y="1856232"/>
            <a:ext cx="21488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UNEQUAL URGENCY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286000"/>
            <a:ext cx="1975028" cy="82586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Affected areas have 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different demand levels and 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priorities.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69079"/>
            <a:ext cx="10835640" cy="1547949"/>
          </a:xfrm>
          <a:prstGeom prst="roundRect">
            <a:avLst>
              <a:gd name="adj" fmla="val 12000"/>
            </a:avLst>
          </a:prstGeom>
          <a:solidFill>
            <a:srgbClr val="122340"/>
          </a:solidFill>
          <a:ln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19185" y="4429205"/>
            <a:ext cx="8198590" cy="79765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rPr dirty="0"/>
              <a:t>Core question: Who should receive what, from which warehouse, and </a:t>
            </a:r>
            <a:endParaRPr lang="en-US" dirty="0"/>
          </a:p>
          <a:p>
            <a:pPr algn="ctr"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in what quantity—when not every need can necessarily be met?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587" y="5923581"/>
            <a:ext cx="11654665" cy="4001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D6E84"/>
                </a:solidFill>
                <a:latin typeface="Aptos"/>
              </a:defRPr>
            </a:pPr>
            <a:r>
              <a:rPr sz="2000" dirty="0"/>
              <a:t>Without a structured plan, resources may be allocated </a:t>
            </a:r>
            <a:r>
              <a:rPr sz="2000" dirty="0" err="1"/>
              <a:t>ineffciently</a:t>
            </a:r>
            <a:r>
              <a:rPr sz="2000" dirty="0"/>
              <a:t> and critical needs may remain unmet.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373" y="302782"/>
            <a:ext cx="3950762" cy="58477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rPr sz="3200" dirty="0"/>
              <a:t>The sample scenario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612648" y="850393"/>
            <a:ext cx="1068668" cy="45719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6373" y="1043613"/>
            <a:ext cx="8374024" cy="4001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E84"/>
                </a:solidFill>
                <a:latin typeface="Aptos"/>
              </a:defRPr>
            </a:pPr>
            <a:r>
              <a:rPr sz="2000" dirty="0"/>
              <a:t>The website starts with editable demonstration data—not live disaster data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4231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21488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864E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9424"/>
            <a:ext cx="21488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Warehouses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91640"/>
            <a:ext cx="24231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801368"/>
            <a:ext cx="21488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99D9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9424"/>
            <a:ext cx="21488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Affected areas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91640"/>
            <a:ext cx="24231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801368"/>
            <a:ext cx="21488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EE8F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249424"/>
            <a:ext cx="21488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Vehicles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691640"/>
            <a:ext cx="24231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1801368"/>
            <a:ext cx="214884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CE4141"/>
                </a:solidFill>
                <a:latin typeface="Aptos"/>
              </a:defRPr>
            </a:pPr>
            <a:r>
              <a:t>3,500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9424"/>
            <a:ext cx="21488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Total vehicle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Available resources (sample inputs)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22960" y="3520440"/>
          <a:ext cx="5074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2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12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Demand</a:t>
                      </a:r>
                    </a:p>
                  </a:txBody>
                  <a:tcPr>
                    <a:solidFill>
                      <a:srgbClr val="12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Food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2,900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Water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2,515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2,600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Medicine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42"/>
                          </a:solidFill>
                          <a:latin typeface="Aptos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400800" y="3154680"/>
            <a:ext cx="4572000" cy="205740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154680"/>
            <a:ext cx="73152" cy="2057400"/>
          </a:xfrm>
          <a:prstGeom prst="rect">
            <a:avLst/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319272"/>
            <a:ext cx="4206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THE KEY TRADE-OFF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749040"/>
            <a:ext cx="4190763" cy="82586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Water demand exceeds available supply in this sample. 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The model must decide how to allocate scarce capacity while 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accounting for area priorities and shortage penalties.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The numbers are illustrative and can be changed in the website.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9233" y="277212"/>
            <a:ext cx="5247847" cy="6463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rPr sz="3600" dirty="0"/>
              <a:t>How the project solves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86968"/>
            <a:ext cx="1143000" cy="45719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6493573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E84"/>
                </a:solidFill>
                <a:latin typeface="Aptos"/>
              </a:defRPr>
            </a:pPr>
            <a:r>
              <a:rPr sz="1600" dirty="0"/>
              <a:t>The optimizer converts the planning problem into a mathematical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00200" y="1572768"/>
            <a:ext cx="685800" cy="685800"/>
          </a:xfrm>
          <a:prstGeom prst="ellipse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55648" y="1746504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531" y="3063240"/>
            <a:ext cx="2563715" cy="55143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Warehouses, supplies, area demand,</a:t>
            </a:r>
            <a:endParaRPr lang="en-US" dirty="0"/>
          </a:p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 priority, costs and vehicle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7432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5D6E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01168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4840" y="1572768"/>
            <a:ext cx="685800" cy="685800"/>
          </a:xfrm>
          <a:prstGeom prst="ellipse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746504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514600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0401" y="3063240"/>
            <a:ext cx="2471254" cy="82586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Create shipment decision variables </a:t>
            </a:r>
            <a:endParaRPr lang="en-US" dirty="0"/>
          </a:p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for each warehouse, area and </a:t>
            </a:r>
            <a:endParaRPr lang="en-US" dirty="0"/>
          </a:p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resource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27432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5D6E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4238" y="201168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69480" y="1572768"/>
            <a:ext cx="685800" cy="685800"/>
          </a:xfrm>
          <a:prstGeom prst="ellipse">
            <a:avLst/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4928" y="1746504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14600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186" y="3063240"/>
            <a:ext cx="2204963" cy="82586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Use Linear Programming (</a:t>
            </a:r>
            <a:r>
              <a:rPr dirty="0" err="1"/>
              <a:t>PuLP</a:t>
            </a:r>
            <a:r>
              <a:rPr dirty="0"/>
              <a:t>) </a:t>
            </a:r>
            <a:endParaRPr lang="en-US" dirty="0"/>
          </a:p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and the CBC solver to</a:t>
            </a:r>
            <a:endParaRPr lang="en-US" dirty="0"/>
          </a:p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 minimize modeled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7432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5D6E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01168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04120" y="1572768"/>
            <a:ext cx="685800" cy="685800"/>
          </a:xfrm>
          <a:prstGeom prst="ellipse">
            <a:avLst/>
          </a:prstGeom>
          <a:solidFill>
            <a:srgbClr val="248F62"/>
          </a:solidFill>
          <a:ln>
            <a:solidFill>
              <a:srgbClr val="24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59568" y="1746504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514600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4570" y="3063240"/>
            <a:ext cx="2581477" cy="55143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Show shipments, transportation cost,</a:t>
            </a:r>
            <a:endParaRPr lang="en-US" dirty="0"/>
          </a:p>
          <a:p>
            <a:pPr algn="ctr"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 demand served and unmet demand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00600"/>
            <a:ext cx="10561320" cy="868680"/>
          </a:xfrm>
          <a:prstGeom prst="roundRect">
            <a:avLst>
              <a:gd name="adj" fmla="val 12000"/>
            </a:avLst>
          </a:prstGeom>
          <a:solidFill>
            <a:srgbClr val="122340"/>
          </a:solidFill>
          <a:ln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5001768"/>
            <a:ext cx="100584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Objective: minimize transportation cost + penalties for unmet demand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25312"/>
            <a:ext cx="8136138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E84"/>
                </a:solidFill>
                <a:latin typeface="Aptos"/>
              </a:defRPr>
            </a:pPr>
            <a:r>
              <a:rPr sz="1600" dirty="0"/>
              <a:t>Subject to supply limits, vehicle capacity, demand accounting and non-negative shipments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497304" cy="58477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rPr sz="3200" dirty="0"/>
              <a:t>Optimization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832694" cy="45719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4995727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E84"/>
                </a:solidFill>
                <a:latin typeface="Aptos"/>
              </a:defRPr>
            </a:pPr>
            <a:r>
              <a:rPr sz="1600" dirty="0"/>
              <a:t>What the model is deciding and what rules it must obey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155448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554480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49377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DECISION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4881208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sz="1400" dirty="0"/>
              <a:t>xᵢⱼₖ = quantity of resource k shipped from warehouse </a:t>
            </a:r>
            <a:r>
              <a:rPr sz="1400" dirty="0" err="1"/>
              <a:t>i</a:t>
            </a:r>
            <a:r>
              <a:rPr sz="1400" dirty="0"/>
              <a:t> to area j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554480"/>
          </a:xfrm>
          <a:prstGeom prst="rect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92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471865" cy="6129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sz="1400" dirty="0"/>
              <a:t>Minimize Σ(transport cost × shipment) + shortage penalty</a:t>
            </a:r>
            <a:endParaRPr lang="en-US" sz="1400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sz="1400" dirty="0"/>
              <a:t> for unmet demand</a:t>
            </a:r>
            <a:r>
              <a:rPr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242816"/>
            <a:ext cx="109728" cy="109728"/>
          </a:xfrm>
          <a:prstGeom prst="ellipse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466344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Warehouse supply cannot be exceeded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681727"/>
            <a:ext cx="109728" cy="109728"/>
          </a:xfrm>
          <a:prstGeom prst="ellipse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599431"/>
            <a:ext cx="466344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Total shipments respect vehicle capacity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120640"/>
            <a:ext cx="109728" cy="109728"/>
          </a:xfrm>
          <a:prstGeom prst="ellipse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038344"/>
            <a:ext cx="466344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Unmet demand is recorded explicitly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559552"/>
            <a:ext cx="109728" cy="109728"/>
          </a:xfrm>
          <a:prstGeom prst="ellipse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477256"/>
            <a:ext cx="466344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Shipment quantities cannot be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657600"/>
            <a:ext cx="4663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Priority-aware planning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4242816"/>
            <a:ext cx="109728" cy="109728"/>
          </a:xfrm>
          <a:prstGeom prst="ellipse">
            <a:avLst/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4160520"/>
            <a:ext cx="45262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Each area has a configured priority weight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4681727"/>
            <a:ext cx="109728" cy="109728"/>
          </a:xfrm>
          <a:prstGeom prst="ellipse">
            <a:avLst/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599431"/>
            <a:ext cx="45262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Shortages in higher-priority areas carry greater penalty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5120640"/>
            <a:ext cx="109728" cy="109728"/>
          </a:xfrm>
          <a:prstGeom prst="ellipse">
            <a:avLst/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5038344"/>
            <a:ext cx="45262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The solution reflects the chosen costs, weights and constraints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5559552"/>
            <a:ext cx="109728" cy="109728"/>
          </a:xfrm>
          <a:prstGeom prst="ellipse">
            <a:avLst/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5477256"/>
            <a:ext cx="45262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It is not a universal guarantee of the best real-world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How to use the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31520" cy="54864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E84"/>
                </a:solidFill>
                <a:latin typeface="Aptos"/>
              </a:defRPr>
            </a:pPr>
            <a:r>
              <a:t>A guided eight-stage workflow for a relief-planning scenario.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57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64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2103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21031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Choose/load scenario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73736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1847088"/>
            <a:ext cx="457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64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176272"/>
            <a:ext cx="2103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Warehouses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587752"/>
            <a:ext cx="21031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Edit available supplies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3736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1847088"/>
            <a:ext cx="457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64E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176272"/>
            <a:ext cx="2103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Affected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587752"/>
            <a:ext cx="21031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Set demand and priority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73736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00032" y="1847088"/>
            <a:ext cx="457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64E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176272"/>
            <a:ext cx="2103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587752"/>
            <a:ext cx="21031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Review resource types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813048"/>
            <a:ext cx="457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64E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142231"/>
            <a:ext cx="2103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Transport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553712"/>
            <a:ext cx="21031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Set route cost inputs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70332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30752" y="3813048"/>
            <a:ext cx="457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64E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4142231"/>
            <a:ext cx="2103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Vehicles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4553712"/>
            <a:ext cx="21031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Set capacity and trips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70332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3813048"/>
            <a:ext cx="457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64E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142231"/>
            <a:ext cx="2103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553712"/>
            <a:ext cx="21031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Check supply vs demand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70332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0032" y="3813048"/>
            <a:ext cx="457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64E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4142231"/>
            <a:ext cx="2103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4553712"/>
            <a:ext cx="21031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D6E84"/>
                </a:solidFill>
                <a:latin typeface="Aptos"/>
              </a:defRPr>
            </a:pPr>
            <a:r>
              <a:t>Run and inspect plan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806440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solidFill>
              <a:srgbClr val="E7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5925312"/>
            <a:ext cx="102412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695C"/>
                </a:solidFill>
                <a:latin typeface="Aptos"/>
              </a:defRPr>
            </a:pPr>
            <a:r>
              <a:t>Tip: click Run Optimization / Re-run after editing inputs to calculate a new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t>Example output from the working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31520" cy="54864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E84"/>
                </a:solidFill>
                <a:latin typeface="Aptos"/>
              </a:defRPr>
            </a:pPr>
            <a:r>
              <a:t>Observed in the sample run after a transportation-cost edit.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2194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864E6"/>
                </a:solidFill>
                <a:latin typeface="Aptos"/>
              </a:defRPr>
            </a:pPr>
            <a:r>
              <a:t>₹34,500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21945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Transportation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4688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755648"/>
            <a:ext cx="2194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99D97"/>
                </a:solidFill>
                <a:latin typeface="Aptos"/>
              </a:defRPr>
            </a:pPr>
            <a:r>
              <a:t>65.1%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203704"/>
            <a:ext cx="21945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Overall demand served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45920"/>
            <a:ext cx="24688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755648"/>
            <a:ext cx="2194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48F62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203704"/>
            <a:ext cx="21945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High-priority demand served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645920"/>
            <a:ext cx="24688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1755648"/>
            <a:ext cx="2194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EE8F34"/>
                </a:solidFill>
                <a:latin typeface="Aptos"/>
              </a:defRPr>
            </a:pPr>
            <a:r>
              <a:t>1,880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203704"/>
            <a:ext cx="21945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Unmet demand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340"/>
                </a:solidFill>
                <a:latin typeface="Aptos"/>
              </a:defRPr>
            </a:pPr>
            <a:r>
              <a:t>Area-wise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11880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Area 1 — Flood Camp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630168"/>
            <a:ext cx="2011680" cy="201168"/>
          </a:xfrm>
          <a:prstGeom prst="roundRect">
            <a:avLst>
              <a:gd name="adj" fmla="val 12000"/>
            </a:avLst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337560" y="3630168"/>
            <a:ext cx="2011680" cy="201168"/>
          </a:xfrm>
          <a:prstGeom prst="roundRect">
            <a:avLst>
              <a:gd name="adj" fmla="val 12000"/>
            </a:avLst>
          </a:prstGeom>
          <a:solidFill>
            <a:srgbClr val="248F62"/>
          </a:solidFill>
          <a:ln>
            <a:solidFill>
              <a:srgbClr val="24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40680" y="3611880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2234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42232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Area 2 — Flood Camp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4160520"/>
            <a:ext cx="2011680" cy="201168"/>
          </a:xfrm>
          <a:prstGeom prst="roundRect">
            <a:avLst>
              <a:gd name="adj" fmla="val 12000"/>
            </a:avLst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37560" y="4160520"/>
            <a:ext cx="752368" cy="201168"/>
          </a:xfrm>
          <a:prstGeom prst="roundRect">
            <a:avLst>
              <a:gd name="adj" fmla="val 12000"/>
            </a:avLst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40680" y="4142232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22340"/>
                </a:solidFill>
                <a:latin typeface="Aptos"/>
              </a:defRPr>
            </a:pPr>
            <a:r>
              <a:t>37.4%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72584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Area 3 — Village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4690872"/>
            <a:ext cx="2011680" cy="201168"/>
          </a:xfrm>
          <a:prstGeom prst="roundRect">
            <a:avLst>
              <a:gd name="adj" fmla="val 12000"/>
            </a:avLst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0680" y="4672584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2234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202936"/>
            <a:ext cx="2423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Area 4 — Town 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5221223"/>
            <a:ext cx="2011680" cy="201168"/>
          </a:xfrm>
          <a:prstGeom prst="roundRect">
            <a:avLst>
              <a:gd name="adj" fmla="val 12000"/>
            </a:avLst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337560" y="5221223"/>
            <a:ext cx="2011680" cy="201168"/>
          </a:xfrm>
          <a:prstGeom prst="roundRect">
            <a:avLst>
              <a:gd name="adj" fmla="val 12000"/>
            </a:avLst>
          </a:prstGeom>
          <a:solidFill>
            <a:srgbClr val="248F62"/>
          </a:solidFill>
          <a:ln>
            <a:solidFill>
              <a:srgbClr val="24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40680" y="5202936"/>
            <a:ext cx="594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2234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3246120"/>
            <a:ext cx="4572000" cy="214884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37960" y="3246120"/>
            <a:ext cx="73152" cy="2148840"/>
          </a:xfrm>
          <a:prstGeom prst="rect">
            <a:avLst/>
          </a:prstGeom>
          <a:solidFill>
            <a:srgbClr val="199D97"/>
          </a:solidFill>
          <a:ln>
            <a:solidFill>
              <a:srgbClr val="19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39128" y="3410712"/>
            <a:ext cx="4206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HOW TO INTERPRET THIS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3840480"/>
            <a:ext cx="3876639" cy="110030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Both high-priority areas are fully served in this sample.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 Some medium- and low-priority demand remains unmet 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because supplies and transport capacity are limited. 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 dirty="0"/>
              <a:t>Results depend on the input data and model settings.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989320"/>
            <a:ext cx="104241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These are demonstration results—not live operational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97765"/>
            <a:ext cx="7108228" cy="58477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340"/>
                </a:solidFill>
                <a:latin typeface="Aptos"/>
              </a:defRPr>
            </a:pPr>
            <a:r>
              <a:rPr sz="3200" dirty="0"/>
              <a:t>What it does—and what it does not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56555" y="909385"/>
            <a:ext cx="990010" cy="54864"/>
          </a:xfrm>
          <a:prstGeom prst="rect">
            <a:avLst/>
          </a:prstGeom>
          <a:solidFill>
            <a:srgbClr val="2864E6"/>
          </a:solidFill>
          <a:ln>
            <a:solidFill>
              <a:srgbClr val="2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96596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965960"/>
          </a:xfrm>
          <a:prstGeom prst="rect">
            <a:avLst/>
          </a:prstGeom>
          <a:solidFill>
            <a:srgbClr val="248F62"/>
          </a:solidFill>
          <a:ln>
            <a:solidFill>
              <a:srgbClr val="24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CURRENT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484632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• Allocates multiple resources</a:t>
            </a:r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• Models supply, demand and vehicle capacity</a:t>
            </a:r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• Includes priority-aware shortage penalties</a:t>
            </a:r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• Calculates and displays a shipment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196596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1965960"/>
          </a:xfrm>
          <a:prstGeom prst="rect">
            <a:avLst/>
          </a:prstGeom>
          <a:solidFill>
            <a:srgbClr val="EE8F34"/>
          </a:solidFill>
          <a:ln>
            <a:solidFill>
              <a:srgbClr val="EE8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901952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340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31720"/>
            <a:ext cx="484632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• Uses sample/input transportation costs</a:t>
            </a:r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• Does not compute live road routes or traffic</a:t>
            </a:r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• Does not track individual trucks in real time</a:t>
            </a:r>
          </a:p>
          <a:p>
            <a:pPr>
              <a:spcAft>
                <a:spcPts val="7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• Results are only as reliable as model assumptions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62272"/>
            <a:ext cx="10012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2340"/>
                </a:solidFill>
                <a:latin typeface="Aptos"/>
              </a:defRPr>
            </a:pPr>
            <a:r>
              <a:t>Next validation: check the objective and constraints in optimization/model.py and test edge cases before real-world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E84"/>
                </a:solidFill>
                <a:latin typeface="Aptos"/>
              </a:defRPr>
            </a:pPr>
            <a:r>
              <a:rPr dirty="0"/>
              <a:t>This is a decision-support prototype, not a replacement for emergency-management authorities.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89C4FF"/>
                </a:solidFill>
                <a:latin typeface="Aptos"/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Open the project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98755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AE5F4"/>
                </a:solidFill>
                <a:latin typeface="Aptos"/>
              </a:defRPr>
            </a:pPr>
            <a:r>
              <a:t>Click the link below to open the running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98755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89C4FF"/>
                </a:solidFill>
                <a:latin typeface="Aptos"/>
              </a:defRPr>
            </a:pPr>
            <a:r>
              <a:rPr>
                <a:hlinkClick r:id="rId2"/>
              </a:rPr>
              <a:t>http://127.0.0.1:8000/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60520"/>
            <a:ext cx="10287000" cy="1051560"/>
          </a:xfrm>
          <a:prstGeom prst="roundRect">
            <a:avLst>
              <a:gd name="adj" fmla="val 12000"/>
            </a:avLst>
          </a:prstGeom>
          <a:solidFill>
            <a:srgbClr val="203656"/>
          </a:solidFill>
          <a:ln>
            <a:solidFill>
              <a:srgbClr val="20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370832"/>
            <a:ext cx="9728304" cy="58221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Important: 127.0.0.1 is a local address. This link works only on the computer running the app, while the server is on.</a:t>
            </a:r>
            <a:endParaRPr lang="en-US" dirty="0"/>
          </a:p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 To let a professor open it from another device, deploy the app to a public hosting service and replace this hyperlink with the public URL.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98755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ECDE1"/>
                </a:solidFill>
                <a:latin typeface="Aptos"/>
              </a:defRPr>
            </a:pPr>
            <a:r>
              <a:t>Demo tip: start the backend in VS Code, then click the link.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ECDE1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840</Words>
  <Application>Microsoft Office PowerPoint</Application>
  <PresentationFormat>Widescreen</PresentationFormat>
  <Paragraphs>175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Relief Distribution Optimizer</dc:title>
  <dc:subject>Problem statement, optimization approach, website workflow, sample results and demo link</dc:subject>
  <dc:creator>OpenAI</dc:creator>
  <cp:keywords>disaster relief, linear programming, optimization, distribution</cp:keywords>
  <dc:description>generated using python-pptx</dc:description>
  <cp:lastModifiedBy>Chintalapudi Satyam</cp:lastModifiedBy>
  <cp:revision>12</cp:revision>
  <dcterms:created xsi:type="dcterms:W3CDTF">2013-01-27T09:14:16Z</dcterms:created>
  <dcterms:modified xsi:type="dcterms:W3CDTF">2026-10-29T18:14:07Z</dcterms:modified>
  <cp:category/>
</cp:coreProperties>
</file>