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4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disaster-relief-optimizer-m8hg.onrender.com" TargetMode="Externa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23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99D97"/>
          </a:solidFill>
          <a:ln>
            <a:solidFill>
              <a:srgbClr val="199D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84811" y="539496"/>
            <a:ext cx="109728" cy="1413207"/>
          </a:xfrm>
          <a:prstGeom prst="rect">
            <a:avLst/>
          </a:prstGeom>
          <a:solidFill>
            <a:srgbClr val="2864E6"/>
          </a:solidFill>
          <a:ln>
            <a:solidFill>
              <a:srgbClr val="2864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9952" y="2002536"/>
            <a:ext cx="9875520" cy="4572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89C4FF"/>
                </a:solidFill>
                <a:latin typeface="Aptos"/>
              </a:defRPr>
            </a:pPr>
            <a:r>
              <a:rPr dirty="0"/>
              <a:t>OPERATIONS RESEARCH • DECISION SUPPORT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539496"/>
            <a:ext cx="5277279" cy="1413207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3400" b="1">
                <a:solidFill>
                  <a:srgbClr val="FFFFFF"/>
                </a:solidFill>
                <a:latin typeface="Aptos"/>
              </a:defRPr>
            </a:pPr>
            <a:r>
              <a:rPr sz="4000" dirty="0"/>
              <a:t>Disaster Relief</a:t>
            </a:r>
          </a:p>
          <a:p>
            <a:pPr>
              <a:spcAft>
                <a:spcPts val="700"/>
              </a:spcAft>
              <a:defRPr sz="3400" b="1">
                <a:solidFill>
                  <a:srgbClr val="FFFFFF"/>
                </a:solidFill>
                <a:latin typeface="Aptos"/>
              </a:defRPr>
            </a:pPr>
            <a:r>
              <a:rPr sz="4000" dirty="0"/>
              <a:t>Distribution Optimizer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952" y="3813048"/>
            <a:ext cx="9418320" cy="7772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2000" b="0">
                <a:solidFill>
                  <a:srgbClr val="DAE5F4"/>
                </a:solidFill>
                <a:latin typeface="Aptos"/>
              </a:defRPr>
            </a:pPr>
            <a:r>
              <a:rPr dirty="0"/>
              <a:t>A Linear Programming approach to allocating limited relief supplies efficiently and fairly.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41832" y="4663440"/>
            <a:ext cx="3794760" cy="621792"/>
          </a:xfrm>
          <a:prstGeom prst="roundRect">
            <a:avLst>
              <a:gd name="adj" fmla="val 12000"/>
            </a:avLst>
          </a:prstGeom>
          <a:solidFill>
            <a:srgbClr val="2864E6"/>
          </a:solidFill>
          <a:ln>
            <a:solidFill>
              <a:srgbClr val="2864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4809744"/>
            <a:ext cx="347472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FFFFFF"/>
                </a:solidFill>
                <a:latin typeface="Aptos"/>
              </a:defRPr>
            </a:pPr>
            <a:r>
              <a:t>PROJECT OVERVIEW &amp; LIVE DEMO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5989320"/>
            <a:ext cx="5642763" cy="338554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BECDE1"/>
                </a:solidFill>
                <a:latin typeface="Aptos"/>
              </a:defRPr>
            </a:pPr>
            <a:r>
              <a:rPr sz="1600" dirty="0"/>
              <a:t>Sample scenario • 3 warehouses • 4 affected areas • 3 vehicles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473952"/>
            <a:ext cx="45720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spcAft>
                <a:spcPts val="700"/>
              </a:spcAft>
              <a:defRPr sz="1000" b="0">
                <a:solidFill>
                  <a:srgbClr val="BECDE1"/>
                </a:solidFill>
                <a:latin typeface="Aptos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32080" y="384048"/>
            <a:ext cx="7381380" cy="584775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22340"/>
                </a:solidFill>
                <a:latin typeface="Aptos"/>
              </a:defRPr>
            </a:pPr>
            <a:r>
              <a:rPr sz="3200" dirty="0"/>
              <a:t>The problem: relief supplies are limited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648" y="896112"/>
            <a:ext cx="1045330" cy="54864"/>
          </a:xfrm>
          <a:prstGeom prst="rect">
            <a:avLst/>
          </a:prstGeom>
          <a:solidFill>
            <a:srgbClr val="2864E6"/>
          </a:solidFill>
          <a:ln>
            <a:solidFill>
              <a:srgbClr val="2864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1133415"/>
            <a:ext cx="8021940" cy="40011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5D6E84"/>
                </a:solidFill>
                <a:latin typeface="Aptos"/>
              </a:defRPr>
            </a:pPr>
            <a:r>
              <a:rPr sz="2000" dirty="0"/>
              <a:t>Disasters create urgent distribution decisions across multiple locations.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73952"/>
            <a:ext cx="45720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spcAft>
                <a:spcPts val="700"/>
              </a:spcAft>
              <a:defRPr sz="1000" b="0">
                <a:solidFill>
                  <a:srgbClr val="5D6E84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2651760" cy="1874519"/>
          </a:xfrm>
          <a:prstGeom prst="roundRect">
            <a:avLst>
              <a:gd name="adj" fmla="val 12000"/>
            </a:avLst>
          </a:prstGeom>
          <a:solidFill>
            <a:srgbClr val="F1F6FC"/>
          </a:solidFill>
          <a:ln>
            <a:solidFill>
              <a:srgbClr val="DA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691640"/>
            <a:ext cx="73152" cy="1874519"/>
          </a:xfrm>
          <a:prstGeom prst="rect">
            <a:avLst/>
          </a:prstGeom>
          <a:solidFill>
            <a:srgbClr val="2864E6"/>
          </a:solidFill>
          <a:ln>
            <a:solidFill>
              <a:srgbClr val="2864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7" y="1856232"/>
            <a:ext cx="228600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2340"/>
                </a:solidFill>
                <a:latin typeface="Aptos"/>
              </a:defRPr>
            </a:pPr>
            <a:r>
              <a:t>LIMITED SUPPLY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2375330" cy="551433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233042"/>
                </a:solidFill>
                <a:latin typeface="Aptos"/>
              </a:defRPr>
            </a:pPr>
            <a:r>
              <a:rPr dirty="0"/>
              <a:t>Warehouses have finite quantities </a:t>
            </a:r>
            <a:endParaRPr lang="en-US" dirty="0"/>
          </a:p>
          <a:p>
            <a:pPr>
              <a:spcAft>
                <a:spcPts val="700"/>
              </a:spcAft>
              <a:defRPr sz="1200" b="0">
                <a:solidFill>
                  <a:srgbClr val="233042"/>
                </a:solidFill>
                <a:latin typeface="Aptos"/>
              </a:defRPr>
            </a:pPr>
            <a:r>
              <a:rPr dirty="0"/>
              <a:t>of food, water and medicine.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1691640"/>
            <a:ext cx="2651760" cy="1874519"/>
          </a:xfrm>
          <a:prstGeom prst="roundRect">
            <a:avLst>
              <a:gd name="adj" fmla="val 12000"/>
            </a:avLst>
          </a:prstGeom>
          <a:solidFill>
            <a:srgbClr val="F1F6FC"/>
          </a:solidFill>
          <a:ln>
            <a:solidFill>
              <a:srgbClr val="DA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429000" y="1691640"/>
            <a:ext cx="73152" cy="1874519"/>
          </a:xfrm>
          <a:prstGeom prst="rect">
            <a:avLst/>
          </a:prstGeom>
          <a:solidFill>
            <a:srgbClr val="199D97"/>
          </a:solidFill>
          <a:ln>
            <a:solidFill>
              <a:srgbClr val="199D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30168" y="1856232"/>
            <a:ext cx="228600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2340"/>
                </a:solidFill>
                <a:latin typeface="Aptos"/>
              </a:defRPr>
            </a:pPr>
            <a:r>
              <a:t>TRANSPORT COST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79876" y="2323680"/>
            <a:ext cx="2326342" cy="551433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233042"/>
                </a:solidFill>
                <a:latin typeface="Aptos"/>
              </a:defRPr>
            </a:pPr>
            <a:r>
              <a:rPr dirty="0"/>
              <a:t>Shipping costs vary by warehouse</a:t>
            </a:r>
            <a:endParaRPr lang="en-US" dirty="0"/>
          </a:p>
          <a:p>
            <a:pPr>
              <a:spcAft>
                <a:spcPts val="700"/>
              </a:spcAft>
              <a:defRPr sz="1200" b="0">
                <a:solidFill>
                  <a:srgbClr val="233042"/>
                </a:solidFill>
                <a:latin typeface="Aptos"/>
              </a:defRPr>
            </a:pPr>
            <a:r>
              <a:rPr dirty="0"/>
              <a:t> and destination.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691640"/>
            <a:ext cx="2651760" cy="1874519"/>
          </a:xfrm>
          <a:prstGeom prst="roundRect">
            <a:avLst>
              <a:gd name="adj" fmla="val 12000"/>
            </a:avLst>
          </a:prstGeom>
          <a:solidFill>
            <a:srgbClr val="F1F6FC"/>
          </a:solidFill>
          <a:ln>
            <a:solidFill>
              <a:srgbClr val="DA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17920" y="1691640"/>
            <a:ext cx="73152" cy="1874519"/>
          </a:xfrm>
          <a:prstGeom prst="rect">
            <a:avLst/>
          </a:prstGeom>
          <a:solidFill>
            <a:srgbClr val="EE8F34"/>
          </a:solidFill>
          <a:ln>
            <a:solidFill>
              <a:srgbClr val="EE8F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228600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2340"/>
                </a:solidFill>
                <a:latin typeface="Aptos"/>
              </a:defRPr>
            </a:pPr>
            <a:r>
              <a:t>CAPACITY LIMITS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286000"/>
            <a:ext cx="2283959" cy="551433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233042"/>
                </a:solidFill>
                <a:latin typeface="Aptos"/>
              </a:defRPr>
            </a:pPr>
            <a:r>
              <a:rPr dirty="0"/>
              <a:t>Vehicles can carry only a </a:t>
            </a:r>
            <a:endParaRPr lang="en-US" dirty="0"/>
          </a:p>
          <a:p>
            <a:pPr>
              <a:spcAft>
                <a:spcPts val="700"/>
              </a:spcAft>
              <a:defRPr sz="1200" b="0">
                <a:solidFill>
                  <a:srgbClr val="233042"/>
                </a:solidFill>
                <a:latin typeface="Aptos"/>
              </a:defRPr>
            </a:pPr>
            <a:r>
              <a:rPr dirty="0"/>
              <a:t>limited amount per available trip.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06840" y="1691640"/>
            <a:ext cx="2514600" cy="1874519"/>
          </a:xfrm>
          <a:prstGeom prst="roundRect">
            <a:avLst>
              <a:gd name="adj" fmla="val 12000"/>
            </a:avLst>
          </a:prstGeom>
          <a:solidFill>
            <a:srgbClr val="F1F6FC"/>
          </a:solidFill>
          <a:ln>
            <a:solidFill>
              <a:srgbClr val="DA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006840" y="1691640"/>
            <a:ext cx="73152" cy="1874519"/>
          </a:xfrm>
          <a:prstGeom prst="rect">
            <a:avLst/>
          </a:prstGeom>
          <a:solidFill>
            <a:srgbClr val="CE4141"/>
          </a:solidFill>
          <a:ln>
            <a:solidFill>
              <a:srgbClr val="CE4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208008" y="1856232"/>
            <a:ext cx="214884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2340"/>
                </a:solidFill>
                <a:latin typeface="Aptos"/>
              </a:defRPr>
            </a:pPr>
            <a:r>
              <a:t>UNEQUAL URGENCY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08008" y="2286000"/>
            <a:ext cx="1975028" cy="825867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233042"/>
                </a:solidFill>
                <a:latin typeface="Aptos"/>
              </a:defRPr>
            </a:pPr>
            <a:r>
              <a:rPr dirty="0"/>
              <a:t>Affected areas have </a:t>
            </a:r>
            <a:endParaRPr lang="en-US" dirty="0"/>
          </a:p>
          <a:p>
            <a:pPr>
              <a:spcAft>
                <a:spcPts val="700"/>
              </a:spcAft>
              <a:defRPr sz="1200" b="0">
                <a:solidFill>
                  <a:srgbClr val="233042"/>
                </a:solidFill>
                <a:latin typeface="Aptos"/>
              </a:defRPr>
            </a:pPr>
            <a:r>
              <a:rPr dirty="0"/>
              <a:t>different demand levels and </a:t>
            </a:r>
            <a:endParaRPr lang="en-US" dirty="0"/>
          </a:p>
          <a:p>
            <a:pPr>
              <a:spcAft>
                <a:spcPts val="700"/>
              </a:spcAft>
              <a:defRPr sz="1200" b="0">
                <a:solidFill>
                  <a:srgbClr val="233042"/>
                </a:solidFill>
                <a:latin typeface="Aptos"/>
              </a:defRPr>
            </a:pPr>
            <a:r>
              <a:rPr dirty="0"/>
              <a:t>priorities.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069079"/>
            <a:ext cx="10835640" cy="1547949"/>
          </a:xfrm>
          <a:prstGeom prst="roundRect">
            <a:avLst>
              <a:gd name="adj" fmla="val 12000"/>
            </a:avLst>
          </a:prstGeom>
          <a:solidFill>
            <a:srgbClr val="122340"/>
          </a:solidFill>
          <a:ln>
            <a:solidFill>
              <a:srgbClr val="122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919185" y="4429205"/>
            <a:ext cx="8198590" cy="797654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ctr">
              <a:spcAft>
                <a:spcPts val="700"/>
              </a:spcAft>
              <a:defRPr sz="2000" b="1">
                <a:solidFill>
                  <a:srgbClr val="FFFFFF"/>
                </a:solidFill>
                <a:latin typeface="Aptos"/>
              </a:defRPr>
            </a:pPr>
            <a:r>
              <a:rPr dirty="0"/>
              <a:t>Core question: Who should receive what, from which warehouse, and </a:t>
            </a:r>
            <a:endParaRPr lang="en-US" dirty="0"/>
          </a:p>
          <a:p>
            <a:pPr algn="ctr">
              <a:spcAft>
                <a:spcPts val="700"/>
              </a:spcAft>
              <a:defRPr sz="2000" b="1">
                <a:solidFill>
                  <a:srgbClr val="FFFFFF"/>
                </a:solidFill>
                <a:latin typeface="Aptos"/>
              </a:defRPr>
            </a:pPr>
            <a:r>
              <a:rPr lang="en-US" dirty="0"/>
              <a:t>in what quantity—when not every need can necessarily be met?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0587" y="5923581"/>
            <a:ext cx="11654665" cy="40011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5D6E84"/>
                </a:solidFill>
                <a:latin typeface="Aptos"/>
              </a:defRPr>
            </a:pPr>
            <a:r>
              <a:rPr sz="2000" dirty="0"/>
              <a:t>Without a structured plan, resources may be allocated ineff</a:t>
            </a:r>
            <a:r>
              <a:rPr lang="en-US" sz="2000" dirty="0"/>
              <a:t>i</a:t>
            </a:r>
            <a:r>
              <a:rPr sz="2000" dirty="0"/>
              <a:t>ciently and critical needs may remain unmet.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76373" y="302782"/>
            <a:ext cx="3950762" cy="584775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22340"/>
                </a:solidFill>
                <a:latin typeface="Aptos"/>
              </a:defRPr>
            </a:pPr>
            <a:r>
              <a:rPr sz="3200" dirty="0"/>
              <a:t>The sample scenario</a:t>
            </a:r>
          </a:p>
        </p:txBody>
      </p:sp>
      <p:sp>
        <p:nvSpPr>
          <p:cNvPr id="3" name="Rectangle 2"/>
          <p:cNvSpPr/>
          <p:nvPr/>
        </p:nvSpPr>
        <p:spPr>
          <a:xfrm flipV="1">
            <a:off x="612648" y="850393"/>
            <a:ext cx="1068668" cy="45719"/>
          </a:xfrm>
          <a:prstGeom prst="rect">
            <a:avLst/>
          </a:prstGeom>
          <a:solidFill>
            <a:srgbClr val="2864E6"/>
          </a:solidFill>
          <a:ln>
            <a:solidFill>
              <a:srgbClr val="2864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76373" y="1043613"/>
            <a:ext cx="8374024" cy="40011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5D6E84"/>
                </a:solidFill>
                <a:latin typeface="Aptos"/>
              </a:defRPr>
            </a:pPr>
            <a:r>
              <a:rPr sz="2000" dirty="0"/>
              <a:t>The website starts with editable demonstration data—not live disaster data</a:t>
            </a:r>
            <a:r>
              <a:rPr dirty="0"/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73952"/>
            <a:ext cx="45720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spcAft>
                <a:spcPts val="700"/>
              </a:spcAft>
              <a:defRPr sz="1000" b="0">
                <a:solidFill>
                  <a:srgbClr val="5D6E84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2423160" cy="9875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A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801368"/>
            <a:ext cx="2148840" cy="38404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2500" b="1">
                <a:solidFill>
                  <a:srgbClr val="2864E6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249424"/>
            <a:ext cx="2148840" cy="29260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5D6E84"/>
                </a:solidFill>
                <a:latin typeface="Aptos"/>
              </a:defRPr>
            </a:pPr>
            <a:r>
              <a:t>Warehouses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1691640"/>
            <a:ext cx="2423160" cy="9875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A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474720" y="1801368"/>
            <a:ext cx="2148840" cy="38404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2500" b="1">
                <a:solidFill>
                  <a:srgbClr val="199D97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249424"/>
            <a:ext cx="2148840" cy="29260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5D6E84"/>
                </a:solidFill>
                <a:latin typeface="Aptos"/>
              </a:defRPr>
            </a:pPr>
            <a:r>
              <a:t>Affected areas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691640"/>
            <a:ext cx="2423160" cy="9875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A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080760" y="1801368"/>
            <a:ext cx="2148840" cy="38404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2500" b="1">
                <a:solidFill>
                  <a:srgbClr val="EE8F34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2249424"/>
            <a:ext cx="2148840" cy="29260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5D6E84"/>
                </a:solidFill>
                <a:latin typeface="Aptos"/>
              </a:defRPr>
            </a:pPr>
            <a:r>
              <a:t>Vehicles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49640" y="1691640"/>
            <a:ext cx="2423160" cy="9875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A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686800" y="1801368"/>
            <a:ext cx="2148840" cy="38404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2500" b="1">
                <a:solidFill>
                  <a:srgbClr val="CE4141"/>
                </a:solidFill>
                <a:latin typeface="Aptos"/>
              </a:defRPr>
            </a:pPr>
            <a:r>
              <a:t>3,500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249424"/>
            <a:ext cx="2148840" cy="29260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5D6E84"/>
                </a:solidFill>
                <a:latin typeface="Aptos"/>
              </a:defRPr>
            </a:pPr>
            <a:r>
              <a:t>Total vehicle capacity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063240"/>
            <a:ext cx="5029200" cy="36576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2340"/>
                </a:solidFill>
                <a:latin typeface="Aptos"/>
              </a:defRPr>
            </a:pPr>
            <a:r>
              <a:t>Available resources (sample inputs)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822960" y="3520440"/>
          <a:ext cx="50749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Resource</a:t>
                      </a:r>
                    </a:p>
                  </a:txBody>
                  <a:tcPr>
                    <a:solidFill>
                      <a:srgbClr val="12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Available</a:t>
                      </a:r>
                    </a:p>
                  </a:txBody>
                  <a:tcPr>
                    <a:solidFill>
                      <a:srgbClr val="12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Demand</a:t>
                      </a:r>
                    </a:p>
                  </a:txBody>
                  <a:tcPr>
                    <a:solidFill>
                      <a:srgbClr val="1223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3042"/>
                          </a:solidFill>
                          <a:latin typeface="Aptos"/>
                        </a:defRPr>
                      </a:pPr>
                      <a:r>
                        <a:t>Food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3042"/>
                          </a:solidFill>
                          <a:latin typeface="Aptos"/>
                        </a:defRPr>
                      </a:pPr>
                      <a:r>
                        <a:t>2,900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3042"/>
                          </a:solidFill>
                          <a:latin typeface="Aptos"/>
                        </a:defRPr>
                      </a:pPr>
                      <a:r>
                        <a:t>2,400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3042"/>
                          </a:solidFill>
                          <a:latin typeface="Aptos"/>
                        </a:defRPr>
                      </a:pPr>
                      <a:r>
                        <a:t>Water</a:t>
                      </a:r>
                    </a:p>
                  </a:txBody>
                  <a:tcPr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3042"/>
                          </a:solidFill>
                          <a:latin typeface="Aptos"/>
                        </a:defRPr>
                      </a:pPr>
                      <a:r>
                        <a:t>2,515</a:t>
                      </a:r>
                    </a:p>
                  </a:txBody>
                  <a:tcPr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3042"/>
                          </a:solidFill>
                          <a:latin typeface="Aptos"/>
                        </a:defRPr>
                      </a:pPr>
                      <a:r>
                        <a:t>2,600</a:t>
                      </a:r>
                    </a:p>
                  </a:txBody>
                  <a:tcPr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3042"/>
                          </a:solidFill>
                          <a:latin typeface="Aptos"/>
                        </a:defRPr>
                      </a:pPr>
                      <a:r>
                        <a:t>Medicine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3042"/>
                          </a:solidFill>
                          <a:latin typeface="Aptos"/>
                        </a:defRPr>
                      </a:pPr>
                      <a:r>
                        <a:t>650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3042"/>
                          </a:solidFill>
                          <a:latin typeface="Aptos"/>
                        </a:defRPr>
                      </a:pPr>
                      <a:r>
                        <a:t>380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0" name="Rounded Rectangle 19"/>
          <p:cNvSpPr/>
          <p:nvPr/>
        </p:nvSpPr>
        <p:spPr>
          <a:xfrm>
            <a:off x="6400800" y="3154680"/>
            <a:ext cx="4572000" cy="2057400"/>
          </a:xfrm>
          <a:prstGeom prst="roundRect">
            <a:avLst>
              <a:gd name="adj" fmla="val 12000"/>
            </a:avLst>
          </a:prstGeom>
          <a:solidFill>
            <a:srgbClr val="F1F6FC"/>
          </a:solidFill>
          <a:ln>
            <a:solidFill>
              <a:srgbClr val="DA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400800" y="3154680"/>
            <a:ext cx="73152" cy="2057400"/>
          </a:xfrm>
          <a:prstGeom prst="rect">
            <a:avLst/>
          </a:prstGeom>
          <a:solidFill>
            <a:srgbClr val="EE8F34"/>
          </a:solidFill>
          <a:ln>
            <a:solidFill>
              <a:srgbClr val="EE8F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601968" y="3319272"/>
            <a:ext cx="420624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2340"/>
                </a:solidFill>
                <a:latin typeface="Aptos"/>
              </a:defRPr>
            </a:pPr>
            <a:r>
              <a:t>THE KEY TRADE-OFF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01968" y="3749040"/>
            <a:ext cx="4190763" cy="825867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233042"/>
                </a:solidFill>
                <a:latin typeface="Aptos"/>
              </a:defRPr>
            </a:pPr>
            <a:r>
              <a:rPr dirty="0"/>
              <a:t>Water demand exceeds available supply in this sample. </a:t>
            </a:r>
            <a:endParaRPr lang="en-US" dirty="0"/>
          </a:p>
          <a:p>
            <a:pPr>
              <a:spcAft>
                <a:spcPts val="700"/>
              </a:spcAft>
              <a:defRPr sz="1200" b="0">
                <a:solidFill>
                  <a:srgbClr val="233042"/>
                </a:solidFill>
                <a:latin typeface="Aptos"/>
              </a:defRPr>
            </a:pPr>
            <a:r>
              <a:rPr dirty="0"/>
              <a:t>The model must decide how to allocate scarce capacity while </a:t>
            </a:r>
            <a:endParaRPr lang="en-US" dirty="0"/>
          </a:p>
          <a:p>
            <a:pPr>
              <a:spcAft>
                <a:spcPts val="700"/>
              </a:spcAft>
              <a:defRPr sz="1200" b="0">
                <a:solidFill>
                  <a:srgbClr val="233042"/>
                </a:solidFill>
                <a:latin typeface="Aptos"/>
              </a:defRPr>
            </a:pPr>
            <a:r>
              <a:rPr dirty="0"/>
              <a:t>accounting for area priorities and shortage penalties.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669280"/>
            <a:ext cx="1060704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5D6E84"/>
                </a:solidFill>
                <a:latin typeface="Aptos"/>
              </a:defRPr>
            </a:pPr>
            <a:r>
              <a:t>The numbers are illustrative and can be changed in the website.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9233" y="277212"/>
            <a:ext cx="5247847" cy="646331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22340"/>
                </a:solidFill>
                <a:latin typeface="Aptos"/>
              </a:defRPr>
            </a:pPr>
            <a:r>
              <a:rPr sz="3600" dirty="0"/>
              <a:t>How the project solves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648" y="886968"/>
            <a:ext cx="1143000" cy="45719"/>
          </a:xfrm>
          <a:prstGeom prst="rect">
            <a:avLst/>
          </a:prstGeom>
          <a:solidFill>
            <a:srgbClr val="2864E6"/>
          </a:solidFill>
          <a:ln>
            <a:solidFill>
              <a:srgbClr val="2864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12648" y="1033271"/>
            <a:ext cx="6493573" cy="338554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5D6E84"/>
                </a:solidFill>
                <a:latin typeface="Aptos"/>
              </a:defRPr>
            </a:pPr>
            <a:r>
              <a:rPr sz="1600" dirty="0"/>
              <a:t>The optimizer converts the planning problem into a mathematical model.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73952"/>
            <a:ext cx="45720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spcAft>
                <a:spcPts val="700"/>
              </a:spcAft>
              <a:defRPr sz="1000" b="0">
                <a:solidFill>
                  <a:srgbClr val="5D6E84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2468880" cy="2240280"/>
          </a:xfrm>
          <a:prstGeom prst="roundRect">
            <a:avLst>
              <a:gd name="adj" fmla="val 12000"/>
            </a:avLst>
          </a:prstGeom>
          <a:solidFill>
            <a:srgbClr val="F1F6FC"/>
          </a:solidFill>
          <a:ln>
            <a:solidFill>
              <a:srgbClr val="DA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600200" y="1572768"/>
            <a:ext cx="685800" cy="685800"/>
          </a:xfrm>
          <a:prstGeom prst="ellipse">
            <a:avLst/>
          </a:prstGeom>
          <a:solidFill>
            <a:srgbClr val="2864E6"/>
          </a:solidFill>
          <a:ln>
            <a:solidFill>
              <a:srgbClr val="2864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755648" y="1746504"/>
            <a:ext cx="365760" cy="2286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spcAft>
                <a:spcPts val="700"/>
              </a:spcAft>
              <a:defRPr sz="16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14600"/>
            <a:ext cx="2103120" cy="36576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spcAft>
                <a:spcPts val="700"/>
              </a:spcAft>
              <a:defRPr sz="1600" b="1">
                <a:solidFill>
                  <a:srgbClr val="122340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9531" y="3063240"/>
            <a:ext cx="2563715" cy="551433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spcAft>
                <a:spcPts val="700"/>
              </a:spcAft>
              <a:defRPr sz="1200" b="0">
                <a:solidFill>
                  <a:srgbClr val="233042"/>
                </a:solidFill>
                <a:latin typeface="Aptos"/>
              </a:defRPr>
            </a:pPr>
            <a:r>
              <a:rPr dirty="0"/>
              <a:t>Warehouses, supplies, area demand,</a:t>
            </a:r>
            <a:endParaRPr lang="en-US" dirty="0"/>
          </a:p>
          <a:p>
            <a:pPr algn="ctr">
              <a:spcAft>
                <a:spcPts val="700"/>
              </a:spcAft>
              <a:defRPr sz="1200" b="0">
                <a:solidFill>
                  <a:srgbClr val="233042"/>
                </a:solidFill>
                <a:latin typeface="Aptos"/>
              </a:defRPr>
            </a:pPr>
            <a:r>
              <a:rPr dirty="0"/>
              <a:t> priority, costs and vehicle capacity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18688" y="2743200"/>
            <a:ext cx="320040" cy="36576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5D6E84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66160" y="2011680"/>
            <a:ext cx="2468880" cy="2240280"/>
          </a:xfrm>
          <a:prstGeom prst="roundRect">
            <a:avLst>
              <a:gd name="adj" fmla="val 12000"/>
            </a:avLst>
          </a:prstGeom>
          <a:solidFill>
            <a:srgbClr val="F1F6FC"/>
          </a:solidFill>
          <a:ln>
            <a:solidFill>
              <a:srgbClr val="DA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4434840" y="1572768"/>
            <a:ext cx="685800" cy="685800"/>
          </a:xfrm>
          <a:prstGeom prst="ellipse">
            <a:avLst/>
          </a:prstGeom>
          <a:solidFill>
            <a:srgbClr val="199D97"/>
          </a:solidFill>
          <a:ln>
            <a:solidFill>
              <a:srgbClr val="199D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90288" y="1746504"/>
            <a:ext cx="365760" cy="2286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spcAft>
                <a:spcPts val="700"/>
              </a:spcAft>
              <a:defRPr sz="16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40" y="2514600"/>
            <a:ext cx="2103120" cy="36576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spcAft>
                <a:spcPts val="700"/>
              </a:spcAft>
              <a:defRPr sz="1600" b="1">
                <a:solidFill>
                  <a:srgbClr val="122340"/>
                </a:solidFill>
                <a:latin typeface="Aptos"/>
              </a:defRPr>
            </a:pPr>
            <a:r>
              <a:t>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0401" y="3063240"/>
            <a:ext cx="2471254" cy="825867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spcAft>
                <a:spcPts val="700"/>
              </a:spcAft>
              <a:defRPr sz="1200" b="0">
                <a:solidFill>
                  <a:srgbClr val="233042"/>
                </a:solidFill>
                <a:latin typeface="Aptos"/>
              </a:defRPr>
            </a:pPr>
            <a:r>
              <a:rPr dirty="0"/>
              <a:t>Create shipment decision variables </a:t>
            </a:r>
            <a:endParaRPr lang="en-US" dirty="0"/>
          </a:p>
          <a:p>
            <a:pPr algn="ctr">
              <a:spcAft>
                <a:spcPts val="700"/>
              </a:spcAft>
              <a:defRPr sz="1200" b="0">
                <a:solidFill>
                  <a:srgbClr val="233042"/>
                </a:solidFill>
                <a:latin typeface="Aptos"/>
              </a:defRPr>
            </a:pPr>
            <a:r>
              <a:rPr dirty="0"/>
              <a:t>for each warehouse, area and </a:t>
            </a:r>
            <a:endParaRPr lang="en-US" dirty="0"/>
          </a:p>
          <a:p>
            <a:pPr algn="ctr">
              <a:spcAft>
                <a:spcPts val="700"/>
              </a:spcAft>
              <a:defRPr sz="1200" b="0">
                <a:solidFill>
                  <a:srgbClr val="233042"/>
                </a:solidFill>
                <a:latin typeface="Aptos"/>
              </a:defRPr>
            </a:pPr>
            <a:r>
              <a:rPr dirty="0"/>
              <a:t>resource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53328" y="2743200"/>
            <a:ext cx="320040" cy="36576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5D6E84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34238" y="2011680"/>
            <a:ext cx="2468880" cy="2240280"/>
          </a:xfrm>
          <a:prstGeom prst="roundRect">
            <a:avLst>
              <a:gd name="adj" fmla="val 12000"/>
            </a:avLst>
          </a:prstGeom>
          <a:solidFill>
            <a:srgbClr val="F1F6FC"/>
          </a:solidFill>
          <a:ln>
            <a:solidFill>
              <a:srgbClr val="DA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7269480" y="1572768"/>
            <a:ext cx="685800" cy="685800"/>
          </a:xfrm>
          <a:prstGeom prst="ellipse">
            <a:avLst/>
          </a:prstGeom>
          <a:solidFill>
            <a:srgbClr val="EE8F34"/>
          </a:solidFill>
          <a:ln>
            <a:solidFill>
              <a:srgbClr val="EE8F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24928" y="1746504"/>
            <a:ext cx="365760" cy="2286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spcAft>
                <a:spcPts val="700"/>
              </a:spcAft>
              <a:defRPr sz="16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2514600"/>
            <a:ext cx="2103120" cy="36576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spcAft>
                <a:spcPts val="700"/>
              </a:spcAft>
              <a:defRPr sz="1600" b="1">
                <a:solidFill>
                  <a:srgbClr val="122340"/>
                </a:solidFill>
                <a:latin typeface="Aptos"/>
              </a:defRPr>
            </a:pPr>
            <a:r>
              <a:t>OPTIMIZE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28186" y="3063240"/>
            <a:ext cx="2204963" cy="825867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spcAft>
                <a:spcPts val="700"/>
              </a:spcAft>
              <a:defRPr sz="1200" b="0">
                <a:solidFill>
                  <a:srgbClr val="233042"/>
                </a:solidFill>
                <a:latin typeface="Aptos"/>
              </a:defRPr>
            </a:pPr>
            <a:r>
              <a:rPr dirty="0"/>
              <a:t>Use Linear Programming (</a:t>
            </a:r>
            <a:r>
              <a:rPr dirty="0" err="1"/>
              <a:t>PuLP</a:t>
            </a:r>
            <a:r>
              <a:rPr dirty="0"/>
              <a:t>) </a:t>
            </a:r>
            <a:endParaRPr lang="en-US" dirty="0"/>
          </a:p>
          <a:p>
            <a:pPr algn="ctr">
              <a:spcAft>
                <a:spcPts val="700"/>
              </a:spcAft>
              <a:defRPr sz="1200" b="0">
                <a:solidFill>
                  <a:srgbClr val="233042"/>
                </a:solidFill>
                <a:latin typeface="Aptos"/>
              </a:defRPr>
            </a:pPr>
            <a:r>
              <a:rPr dirty="0"/>
              <a:t>and the CBC solver to</a:t>
            </a:r>
            <a:endParaRPr lang="en-US" dirty="0"/>
          </a:p>
          <a:p>
            <a:pPr algn="ctr">
              <a:spcAft>
                <a:spcPts val="700"/>
              </a:spcAft>
              <a:defRPr sz="1200" b="0">
                <a:solidFill>
                  <a:srgbClr val="233042"/>
                </a:solidFill>
                <a:latin typeface="Aptos"/>
              </a:defRPr>
            </a:pPr>
            <a:r>
              <a:rPr dirty="0"/>
              <a:t> minimize modeled cost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87968" y="2743200"/>
            <a:ext cx="320040" cy="36576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5D6E84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235440" y="2011680"/>
            <a:ext cx="2468880" cy="2240280"/>
          </a:xfrm>
          <a:prstGeom prst="roundRect">
            <a:avLst>
              <a:gd name="adj" fmla="val 12000"/>
            </a:avLst>
          </a:prstGeom>
          <a:solidFill>
            <a:srgbClr val="F1F6FC"/>
          </a:solidFill>
          <a:ln>
            <a:solidFill>
              <a:srgbClr val="DA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10104120" y="1572768"/>
            <a:ext cx="685800" cy="685800"/>
          </a:xfrm>
          <a:prstGeom prst="ellipse">
            <a:avLst/>
          </a:prstGeom>
          <a:solidFill>
            <a:srgbClr val="248F62"/>
          </a:solidFill>
          <a:ln>
            <a:solidFill>
              <a:srgbClr val="248F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259568" y="1746504"/>
            <a:ext cx="365760" cy="2286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spcAft>
                <a:spcPts val="700"/>
              </a:spcAft>
              <a:defRPr sz="16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18320" y="2514600"/>
            <a:ext cx="2103120" cy="36576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spcAft>
                <a:spcPts val="700"/>
              </a:spcAft>
              <a:defRPr sz="1600" b="1">
                <a:solidFill>
                  <a:srgbClr val="122340"/>
                </a:solidFill>
                <a:latin typeface="Aptos"/>
              </a:defRPr>
            </a:pPr>
            <a:r>
              <a:t>RESULT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74570" y="3063240"/>
            <a:ext cx="2581477" cy="551433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spcAft>
                <a:spcPts val="700"/>
              </a:spcAft>
              <a:defRPr sz="1200" b="0">
                <a:solidFill>
                  <a:srgbClr val="233042"/>
                </a:solidFill>
                <a:latin typeface="Aptos"/>
              </a:defRPr>
            </a:pPr>
            <a:r>
              <a:rPr dirty="0"/>
              <a:t>Show shipments, transportation cost,</a:t>
            </a:r>
            <a:endParaRPr lang="en-US" dirty="0"/>
          </a:p>
          <a:p>
            <a:pPr algn="ctr">
              <a:spcAft>
                <a:spcPts val="700"/>
              </a:spcAft>
              <a:defRPr sz="1200" b="0">
                <a:solidFill>
                  <a:srgbClr val="233042"/>
                </a:solidFill>
                <a:latin typeface="Aptos"/>
              </a:defRPr>
            </a:pPr>
            <a:r>
              <a:rPr dirty="0"/>
              <a:t> demand served and unmet demand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4800600"/>
            <a:ext cx="10561320" cy="868680"/>
          </a:xfrm>
          <a:prstGeom prst="roundRect">
            <a:avLst>
              <a:gd name="adj" fmla="val 12000"/>
            </a:avLst>
          </a:prstGeom>
          <a:solidFill>
            <a:srgbClr val="122340"/>
          </a:solidFill>
          <a:ln>
            <a:solidFill>
              <a:srgbClr val="122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51560" y="5001768"/>
            <a:ext cx="10058400" cy="38404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spcAft>
                <a:spcPts val="700"/>
              </a:spcAft>
              <a:defRPr sz="1800" b="1">
                <a:solidFill>
                  <a:srgbClr val="FFFFFF"/>
                </a:solidFill>
                <a:latin typeface="Aptos"/>
              </a:defRPr>
            </a:pPr>
            <a:r>
              <a:t>Objective: minimize transportation cost + penalties for unmet demand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5925312"/>
            <a:ext cx="8136138" cy="338554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5D6E84"/>
                </a:solidFill>
                <a:latin typeface="Aptos"/>
              </a:defRPr>
            </a:pPr>
            <a:r>
              <a:rPr sz="1600" dirty="0"/>
              <a:t>Subject to supply limits, vehicle capacity, demand accounting and non-negative shipments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3497304" cy="584775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22340"/>
                </a:solidFill>
                <a:latin typeface="Aptos"/>
              </a:defRPr>
            </a:pPr>
            <a:r>
              <a:rPr sz="3200" dirty="0"/>
              <a:t>Optimization logic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648" y="896112"/>
            <a:ext cx="832694" cy="45719"/>
          </a:xfrm>
          <a:prstGeom prst="rect">
            <a:avLst/>
          </a:prstGeom>
          <a:solidFill>
            <a:srgbClr val="2864E6"/>
          </a:solidFill>
          <a:ln>
            <a:solidFill>
              <a:srgbClr val="2864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12648" y="1033271"/>
            <a:ext cx="4995727" cy="338554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5D6E84"/>
                </a:solidFill>
                <a:latin typeface="Aptos"/>
              </a:defRPr>
            </a:pPr>
            <a:r>
              <a:rPr sz="1600" dirty="0"/>
              <a:t>What the model is deciding and what rules it must obey</a:t>
            </a:r>
            <a:r>
              <a:rPr dirty="0"/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73952"/>
            <a:ext cx="45720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spcAft>
                <a:spcPts val="700"/>
              </a:spcAft>
              <a:defRPr sz="1000" b="0">
                <a:solidFill>
                  <a:srgbClr val="5D6E84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91640"/>
            <a:ext cx="5303520" cy="1554480"/>
          </a:xfrm>
          <a:prstGeom prst="roundRect">
            <a:avLst>
              <a:gd name="adj" fmla="val 12000"/>
            </a:avLst>
          </a:prstGeom>
          <a:solidFill>
            <a:srgbClr val="F1F6FC"/>
          </a:solidFill>
          <a:ln>
            <a:solidFill>
              <a:srgbClr val="DA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691640"/>
            <a:ext cx="73152" cy="1554480"/>
          </a:xfrm>
          <a:prstGeom prst="rect">
            <a:avLst/>
          </a:prstGeom>
          <a:solidFill>
            <a:srgbClr val="2864E6"/>
          </a:solidFill>
          <a:ln>
            <a:solidFill>
              <a:srgbClr val="2864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6968" y="1856232"/>
            <a:ext cx="4937759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2340"/>
                </a:solidFill>
                <a:latin typeface="Aptos"/>
              </a:defRPr>
            </a:pPr>
            <a:r>
              <a:t>DECISION VARIABLE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286000"/>
            <a:ext cx="4881208" cy="307777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233042"/>
                </a:solidFill>
                <a:latin typeface="Aptos"/>
              </a:defRPr>
            </a:pPr>
            <a:r>
              <a:rPr sz="1400" dirty="0"/>
              <a:t>xᵢⱼₖ = quantity of resource k shipped from warehouse </a:t>
            </a:r>
            <a:r>
              <a:rPr sz="1400" dirty="0" err="1"/>
              <a:t>i</a:t>
            </a:r>
            <a:r>
              <a:rPr sz="1400" dirty="0"/>
              <a:t> to area j</a:t>
            </a:r>
            <a:r>
              <a:rPr dirty="0"/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91640"/>
            <a:ext cx="5257800" cy="1554480"/>
          </a:xfrm>
          <a:prstGeom prst="roundRect">
            <a:avLst>
              <a:gd name="adj" fmla="val 12000"/>
            </a:avLst>
          </a:prstGeom>
          <a:solidFill>
            <a:srgbClr val="F1F6FC"/>
          </a:solidFill>
          <a:ln>
            <a:solidFill>
              <a:srgbClr val="DA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17920" y="1691640"/>
            <a:ext cx="73152" cy="1554480"/>
          </a:xfrm>
          <a:prstGeom prst="rect">
            <a:avLst/>
          </a:prstGeom>
          <a:solidFill>
            <a:srgbClr val="199D97"/>
          </a:solidFill>
          <a:ln>
            <a:solidFill>
              <a:srgbClr val="199D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19088" y="1856232"/>
            <a:ext cx="489204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2340"/>
                </a:solidFill>
                <a:latin typeface="Aptos"/>
              </a:defRPr>
            </a:pPr>
            <a:r>
              <a:t>OBJECTIVE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9088" y="2286000"/>
            <a:ext cx="4471865" cy="6129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233042"/>
                </a:solidFill>
                <a:latin typeface="Aptos"/>
              </a:defRPr>
            </a:pPr>
            <a:r>
              <a:rPr sz="1400" dirty="0"/>
              <a:t>Minimize Σ(transport cost × shipment) + shortage penalty</a:t>
            </a:r>
            <a:endParaRPr lang="en-US" sz="1400" dirty="0"/>
          </a:p>
          <a:p>
            <a:pPr>
              <a:spcAft>
                <a:spcPts val="700"/>
              </a:spcAft>
              <a:defRPr sz="1200" b="0">
                <a:solidFill>
                  <a:srgbClr val="233042"/>
                </a:solidFill>
                <a:latin typeface="Aptos"/>
              </a:defRPr>
            </a:pPr>
            <a:r>
              <a:rPr sz="1400" dirty="0"/>
              <a:t> for unmet demand</a:t>
            </a:r>
            <a:r>
              <a:rPr dirty="0"/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657600"/>
            <a:ext cx="484632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2340"/>
                </a:solidFill>
                <a:latin typeface="Aptos"/>
              </a:defRPr>
            </a:pPr>
            <a:r>
              <a:t>Constraints</a:t>
            </a:r>
          </a:p>
        </p:txBody>
      </p:sp>
      <p:sp>
        <p:nvSpPr>
          <p:cNvPr id="15" name="Oval 14"/>
          <p:cNvSpPr/>
          <p:nvPr/>
        </p:nvSpPr>
        <p:spPr>
          <a:xfrm>
            <a:off x="868680" y="4242816"/>
            <a:ext cx="109728" cy="109728"/>
          </a:xfrm>
          <a:prstGeom prst="ellipse">
            <a:avLst/>
          </a:prstGeom>
          <a:solidFill>
            <a:srgbClr val="199D97"/>
          </a:solidFill>
          <a:ln>
            <a:solidFill>
              <a:srgbClr val="199D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97280" y="4160520"/>
            <a:ext cx="4663440" cy="4754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233042"/>
                </a:solidFill>
                <a:latin typeface="Aptos"/>
              </a:defRPr>
            </a:pPr>
            <a:r>
              <a:t>Warehouse supply cannot be exceeded</a:t>
            </a:r>
          </a:p>
        </p:txBody>
      </p:sp>
      <p:sp>
        <p:nvSpPr>
          <p:cNvPr id="17" name="Oval 16"/>
          <p:cNvSpPr/>
          <p:nvPr/>
        </p:nvSpPr>
        <p:spPr>
          <a:xfrm>
            <a:off x="868680" y="4681727"/>
            <a:ext cx="109728" cy="109728"/>
          </a:xfrm>
          <a:prstGeom prst="ellipse">
            <a:avLst/>
          </a:prstGeom>
          <a:solidFill>
            <a:srgbClr val="199D97"/>
          </a:solidFill>
          <a:ln>
            <a:solidFill>
              <a:srgbClr val="199D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97280" y="4599431"/>
            <a:ext cx="4663440" cy="4754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233042"/>
                </a:solidFill>
                <a:latin typeface="Aptos"/>
              </a:defRPr>
            </a:pPr>
            <a:r>
              <a:t>Total shipments respect vehicle capacity</a:t>
            </a:r>
          </a:p>
        </p:txBody>
      </p:sp>
      <p:sp>
        <p:nvSpPr>
          <p:cNvPr id="19" name="Oval 18"/>
          <p:cNvSpPr/>
          <p:nvPr/>
        </p:nvSpPr>
        <p:spPr>
          <a:xfrm>
            <a:off x="868680" y="5120640"/>
            <a:ext cx="109728" cy="109728"/>
          </a:xfrm>
          <a:prstGeom prst="ellipse">
            <a:avLst/>
          </a:prstGeom>
          <a:solidFill>
            <a:srgbClr val="199D97"/>
          </a:solidFill>
          <a:ln>
            <a:solidFill>
              <a:srgbClr val="199D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97280" y="5038344"/>
            <a:ext cx="4663440" cy="4754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233042"/>
                </a:solidFill>
                <a:latin typeface="Aptos"/>
              </a:defRPr>
            </a:pPr>
            <a:r>
              <a:t>Unmet demand is recorded explicitly</a:t>
            </a:r>
          </a:p>
        </p:txBody>
      </p:sp>
      <p:sp>
        <p:nvSpPr>
          <p:cNvPr id="21" name="Oval 20"/>
          <p:cNvSpPr/>
          <p:nvPr/>
        </p:nvSpPr>
        <p:spPr>
          <a:xfrm>
            <a:off x="868680" y="5559552"/>
            <a:ext cx="109728" cy="109728"/>
          </a:xfrm>
          <a:prstGeom prst="ellipse">
            <a:avLst/>
          </a:prstGeom>
          <a:solidFill>
            <a:srgbClr val="199D97"/>
          </a:solidFill>
          <a:ln>
            <a:solidFill>
              <a:srgbClr val="199D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97280" y="5477256"/>
            <a:ext cx="4663440" cy="4754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233042"/>
                </a:solidFill>
                <a:latin typeface="Aptos"/>
              </a:defRPr>
            </a:pPr>
            <a:r>
              <a:t>Shipment quantities cannot be negative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657600"/>
            <a:ext cx="466344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2340"/>
                </a:solidFill>
                <a:latin typeface="Aptos"/>
              </a:defRPr>
            </a:pPr>
            <a:r>
              <a:t>Priority-aware planning</a:t>
            </a:r>
          </a:p>
        </p:txBody>
      </p:sp>
      <p:sp>
        <p:nvSpPr>
          <p:cNvPr id="24" name="Oval 23"/>
          <p:cNvSpPr/>
          <p:nvPr/>
        </p:nvSpPr>
        <p:spPr>
          <a:xfrm>
            <a:off x="6446520" y="4242816"/>
            <a:ext cx="109728" cy="109728"/>
          </a:xfrm>
          <a:prstGeom prst="ellipse">
            <a:avLst/>
          </a:prstGeom>
          <a:solidFill>
            <a:srgbClr val="EE8F34"/>
          </a:solidFill>
          <a:ln>
            <a:solidFill>
              <a:srgbClr val="EE8F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675120" y="4160520"/>
            <a:ext cx="4526280" cy="4754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233042"/>
                </a:solidFill>
                <a:latin typeface="Aptos"/>
              </a:defRPr>
            </a:pPr>
            <a:r>
              <a:t>Each area has a configured priority weight</a:t>
            </a:r>
          </a:p>
        </p:txBody>
      </p:sp>
      <p:sp>
        <p:nvSpPr>
          <p:cNvPr id="26" name="Oval 25"/>
          <p:cNvSpPr/>
          <p:nvPr/>
        </p:nvSpPr>
        <p:spPr>
          <a:xfrm>
            <a:off x="6446520" y="4681727"/>
            <a:ext cx="109728" cy="109728"/>
          </a:xfrm>
          <a:prstGeom prst="ellipse">
            <a:avLst/>
          </a:prstGeom>
          <a:solidFill>
            <a:srgbClr val="EE8F34"/>
          </a:solidFill>
          <a:ln>
            <a:solidFill>
              <a:srgbClr val="EE8F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675120" y="4599431"/>
            <a:ext cx="4526280" cy="4754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233042"/>
                </a:solidFill>
                <a:latin typeface="Aptos"/>
              </a:defRPr>
            </a:pPr>
            <a:r>
              <a:t>Shortages in higher-priority areas carry greater penalty</a:t>
            </a:r>
          </a:p>
        </p:txBody>
      </p:sp>
      <p:sp>
        <p:nvSpPr>
          <p:cNvPr id="28" name="Oval 27"/>
          <p:cNvSpPr/>
          <p:nvPr/>
        </p:nvSpPr>
        <p:spPr>
          <a:xfrm>
            <a:off x="6446520" y="5120640"/>
            <a:ext cx="109728" cy="109728"/>
          </a:xfrm>
          <a:prstGeom prst="ellipse">
            <a:avLst/>
          </a:prstGeom>
          <a:solidFill>
            <a:srgbClr val="EE8F34"/>
          </a:solidFill>
          <a:ln>
            <a:solidFill>
              <a:srgbClr val="EE8F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675120" y="5038344"/>
            <a:ext cx="4526280" cy="4754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233042"/>
                </a:solidFill>
                <a:latin typeface="Aptos"/>
              </a:defRPr>
            </a:pPr>
            <a:r>
              <a:t>The solution reflects the chosen costs, weights and constraints</a:t>
            </a:r>
          </a:p>
        </p:txBody>
      </p:sp>
      <p:sp>
        <p:nvSpPr>
          <p:cNvPr id="30" name="Oval 29"/>
          <p:cNvSpPr/>
          <p:nvPr/>
        </p:nvSpPr>
        <p:spPr>
          <a:xfrm>
            <a:off x="6446520" y="5559552"/>
            <a:ext cx="109728" cy="109728"/>
          </a:xfrm>
          <a:prstGeom prst="ellipse">
            <a:avLst/>
          </a:prstGeom>
          <a:solidFill>
            <a:srgbClr val="EE8F34"/>
          </a:solidFill>
          <a:ln>
            <a:solidFill>
              <a:srgbClr val="EE8F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675120" y="5477256"/>
            <a:ext cx="4526280" cy="4754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233042"/>
                </a:solidFill>
                <a:latin typeface="Aptos"/>
              </a:defRPr>
            </a:pPr>
            <a:r>
              <a:t>It is not a universal guarantee of the best real-world response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4572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22340"/>
                </a:solidFill>
                <a:latin typeface="Aptos"/>
              </a:defRPr>
            </a:pPr>
            <a:r>
              <a:t>How to use the website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648" y="896112"/>
            <a:ext cx="731520" cy="54864"/>
          </a:xfrm>
          <a:prstGeom prst="rect">
            <a:avLst/>
          </a:prstGeom>
          <a:solidFill>
            <a:srgbClr val="2864E6"/>
          </a:solidFill>
          <a:ln>
            <a:solidFill>
              <a:srgbClr val="2864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12648" y="1033271"/>
            <a:ext cx="10972800" cy="38404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5D6E84"/>
                </a:solidFill>
                <a:latin typeface="Aptos"/>
              </a:defRPr>
            </a:pPr>
            <a:r>
              <a:t>A guided eight-stage workflow for a relief-planning scenario.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73952"/>
            <a:ext cx="45720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spcAft>
                <a:spcPts val="700"/>
              </a:spcAft>
              <a:defRPr sz="1000" b="0">
                <a:solidFill>
                  <a:srgbClr val="5D6E84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2468880" cy="1417320"/>
          </a:xfrm>
          <a:prstGeom prst="roundRect">
            <a:avLst>
              <a:gd name="adj" fmla="val 12000"/>
            </a:avLst>
          </a:prstGeom>
          <a:solidFill>
            <a:srgbClr val="F1F6FC"/>
          </a:solidFill>
          <a:ln>
            <a:solidFill>
              <a:srgbClr val="DA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1847088"/>
            <a:ext cx="457200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200" b="1">
                <a:solidFill>
                  <a:srgbClr val="2864E6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210312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2340"/>
                </a:solidFill>
                <a:latin typeface="Aptos"/>
              </a:defRPr>
            </a:pPr>
            <a:r>
              <a:t>Scenario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587752"/>
            <a:ext cx="2103120" cy="38404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5D6E84"/>
                </a:solidFill>
                <a:latin typeface="Aptos"/>
              </a:defRPr>
            </a:pPr>
            <a:r>
              <a:t>Choose/load scenario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1737360"/>
            <a:ext cx="2468880" cy="1417320"/>
          </a:xfrm>
          <a:prstGeom prst="roundRect">
            <a:avLst>
              <a:gd name="adj" fmla="val 12000"/>
            </a:avLst>
          </a:prstGeom>
          <a:solidFill>
            <a:srgbClr val="F1F6FC"/>
          </a:solidFill>
          <a:ln>
            <a:solidFill>
              <a:srgbClr val="DA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730752" y="1847088"/>
            <a:ext cx="457200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200" b="1">
                <a:solidFill>
                  <a:srgbClr val="2864E6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30752" y="2176272"/>
            <a:ext cx="210312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2340"/>
                </a:solidFill>
                <a:latin typeface="Aptos"/>
              </a:defRPr>
            </a:pPr>
            <a:r>
              <a:t>Warehouses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30752" y="2587752"/>
            <a:ext cx="2103120" cy="38404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5D6E84"/>
                </a:solidFill>
                <a:latin typeface="Aptos"/>
              </a:defRPr>
            </a:pPr>
            <a:r>
              <a:t>Edit available supplies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1737360"/>
            <a:ext cx="2468880" cy="1417320"/>
          </a:xfrm>
          <a:prstGeom prst="roundRect">
            <a:avLst>
              <a:gd name="adj" fmla="val 12000"/>
            </a:avLst>
          </a:prstGeom>
          <a:solidFill>
            <a:srgbClr val="F1F6FC"/>
          </a:solidFill>
          <a:ln>
            <a:solidFill>
              <a:srgbClr val="DA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65392" y="1847088"/>
            <a:ext cx="457200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200" b="1">
                <a:solidFill>
                  <a:srgbClr val="2864E6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5392" y="2176272"/>
            <a:ext cx="210312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2340"/>
                </a:solidFill>
                <a:latin typeface="Aptos"/>
              </a:defRPr>
            </a:pPr>
            <a:r>
              <a:t>Affected Areas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65392" y="2587752"/>
            <a:ext cx="2103120" cy="38404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5D6E84"/>
                </a:solidFill>
                <a:latin typeface="Aptos"/>
              </a:defRPr>
            </a:pPr>
            <a:r>
              <a:t>Set demand and priority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5440" y="1737360"/>
            <a:ext cx="2468880" cy="1417320"/>
          </a:xfrm>
          <a:prstGeom prst="roundRect">
            <a:avLst>
              <a:gd name="adj" fmla="val 12000"/>
            </a:avLst>
          </a:prstGeom>
          <a:solidFill>
            <a:srgbClr val="F1F6FC"/>
          </a:solidFill>
          <a:ln>
            <a:solidFill>
              <a:srgbClr val="DA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400032" y="1847088"/>
            <a:ext cx="457200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200" b="1">
                <a:solidFill>
                  <a:srgbClr val="2864E6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00032" y="2176272"/>
            <a:ext cx="210312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2340"/>
                </a:solidFill>
                <a:latin typeface="Aptos"/>
              </a:defRPr>
            </a:pPr>
            <a:r>
              <a:t>Resources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00032" y="2587752"/>
            <a:ext cx="2103120" cy="38404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5D6E84"/>
                </a:solidFill>
                <a:latin typeface="Aptos"/>
              </a:defRPr>
            </a:pPr>
            <a:r>
              <a:t>Review resource types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3703320"/>
            <a:ext cx="2468880" cy="1417320"/>
          </a:xfrm>
          <a:prstGeom prst="roundRect">
            <a:avLst>
              <a:gd name="adj" fmla="val 12000"/>
            </a:avLst>
          </a:prstGeom>
          <a:solidFill>
            <a:srgbClr val="F1F6FC"/>
          </a:solidFill>
          <a:ln>
            <a:solidFill>
              <a:srgbClr val="DA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96112" y="3813048"/>
            <a:ext cx="457200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200" b="1">
                <a:solidFill>
                  <a:srgbClr val="2864E6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" y="4142231"/>
            <a:ext cx="210312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2340"/>
                </a:solidFill>
                <a:latin typeface="Aptos"/>
              </a:defRPr>
            </a:pPr>
            <a:r>
              <a:t>Transport Costs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4553712"/>
            <a:ext cx="2103120" cy="38404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5D6E84"/>
                </a:solidFill>
                <a:latin typeface="Aptos"/>
              </a:defRPr>
            </a:pPr>
            <a:r>
              <a:t>Set route cost inputs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66160" y="3703320"/>
            <a:ext cx="2468880" cy="1417320"/>
          </a:xfrm>
          <a:prstGeom prst="roundRect">
            <a:avLst>
              <a:gd name="adj" fmla="val 12000"/>
            </a:avLst>
          </a:prstGeom>
          <a:solidFill>
            <a:srgbClr val="F1F6FC"/>
          </a:solidFill>
          <a:ln>
            <a:solidFill>
              <a:srgbClr val="DA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730752" y="3813048"/>
            <a:ext cx="457200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200" b="1">
                <a:solidFill>
                  <a:srgbClr val="2864E6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30752" y="4142231"/>
            <a:ext cx="210312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2340"/>
                </a:solidFill>
                <a:latin typeface="Aptos"/>
              </a:defRPr>
            </a:pPr>
            <a:r>
              <a:t>Vehicles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30752" y="4553712"/>
            <a:ext cx="2103120" cy="38404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5D6E84"/>
                </a:solidFill>
                <a:latin typeface="Aptos"/>
              </a:defRPr>
            </a:pPr>
            <a:r>
              <a:t>Set capacity and trips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0" y="3703320"/>
            <a:ext cx="2468880" cy="1417320"/>
          </a:xfrm>
          <a:prstGeom prst="roundRect">
            <a:avLst>
              <a:gd name="adj" fmla="val 12000"/>
            </a:avLst>
          </a:prstGeom>
          <a:solidFill>
            <a:srgbClr val="F1F6FC"/>
          </a:solidFill>
          <a:ln>
            <a:solidFill>
              <a:srgbClr val="DA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565392" y="3813048"/>
            <a:ext cx="457200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200" b="1">
                <a:solidFill>
                  <a:srgbClr val="2864E6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65392" y="4142231"/>
            <a:ext cx="210312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2340"/>
                </a:solidFill>
                <a:latin typeface="Aptos"/>
              </a:defRPr>
            </a:pPr>
            <a:r>
              <a:t>Review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65392" y="4553712"/>
            <a:ext cx="2103120" cy="38404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5D6E84"/>
                </a:solidFill>
                <a:latin typeface="Aptos"/>
              </a:defRPr>
            </a:pPr>
            <a:r>
              <a:t>Check supply vs demand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235440" y="3703320"/>
            <a:ext cx="2468880" cy="1417320"/>
          </a:xfrm>
          <a:prstGeom prst="roundRect">
            <a:avLst>
              <a:gd name="adj" fmla="val 12000"/>
            </a:avLst>
          </a:prstGeom>
          <a:solidFill>
            <a:srgbClr val="F1F6FC"/>
          </a:solidFill>
          <a:ln>
            <a:solidFill>
              <a:srgbClr val="DA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400032" y="3813048"/>
            <a:ext cx="457200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200" b="1">
                <a:solidFill>
                  <a:srgbClr val="2864E6"/>
                </a:solidFill>
                <a:latin typeface="Aptos"/>
              </a:defRPr>
            </a:pPr>
            <a:r>
              <a:t>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00032" y="4142231"/>
            <a:ext cx="210312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234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00032" y="4553712"/>
            <a:ext cx="2103120" cy="38404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5D6E84"/>
                </a:solidFill>
                <a:latin typeface="Aptos"/>
              </a:defRPr>
            </a:pPr>
            <a:r>
              <a:t>Run and inspect plan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22960" y="5806440"/>
            <a:ext cx="10561320" cy="502920"/>
          </a:xfrm>
          <a:prstGeom prst="roundRect">
            <a:avLst>
              <a:gd name="adj" fmla="val 12000"/>
            </a:avLst>
          </a:prstGeom>
          <a:solidFill>
            <a:srgbClr val="E7F4F1"/>
          </a:solidFill>
          <a:ln>
            <a:solidFill>
              <a:srgbClr val="E7F4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60120" y="5925312"/>
            <a:ext cx="10241280" cy="2011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spcAft>
                <a:spcPts val="700"/>
              </a:spcAft>
              <a:defRPr sz="1200" b="1">
                <a:solidFill>
                  <a:srgbClr val="14695C"/>
                </a:solidFill>
                <a:latin typeface="Aptos"/>
              </a:defRPr>
            </a:pPr>
            <a:r>
              <a:t>Tip: click Run Optimization / Re-run after editing inputs to calculate a new plan.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4572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22340"/>
                </a:solidFill>
                <a:latin typeface="Aptos"/>
              </a:defRPr>
            </a:pPr>
            <a:r>
              <a:t>Example output from the working 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648" y="896112"/>
            <a:ext cx="731520" cy="54864"/>
          </a:xfrm>
          <a:prstGeom prst="rect">
            <a:avLst/>
          </a:prstGeom>
          <a:solidFill>
            <a:srgbClr val="2864E6"/>
          </a:solidFill>
          <a:ln>
            <a:solidFill>
              <a:srgbClr val="2864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12648" y="1033271"/>
            <a:ext cx="10972800" cy="38404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5D6E84"/>
                </a:solidFill>
                <a:latin typeface="Aptos"/>
              </a:defRPr>
            </a:pPr>
            <a:r>
              <a:t>Observed in the sample run after a transportation-cost edit.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73952"/>
            <a:ext cx="45720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spcAft>
                <a:spcPts val="700"/>
              </a:spcAft>
              <a:defRPr sz="1000" b="0">
                <a:solidFill>
                  <a:srgbClr val="5D6E84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2468880" cy="9875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A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755648"/>
            <a:ext cx="2194560" cy="38404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2500" b="1">
                <a:solidFill>
                  <a:srgbClr val="2864E6"/>
                </a:solidFill>
                <a:latin typeface="Aptos"/>
              </a:defRPr>
            </a:pPr>
            <a:r>
              <a:t>₹34,500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203704"/>
            <a:ext cx="2194560" cy="29260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5D6E84"/>
                </a:solidFill>
                <a:latin typeface="Aptos"/>
              </a:defRPr>
            </a:pPr>
            <a:r>
              <a:t>Transportation cost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1645920"/>
            <a:ext cx="2468880" cy="9875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A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520440" y="1755648"/>
            <a:ext cx="2194560" cy="38404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2500" b="1">
                <a:solidFill>
                  <a:srgbClr val="199D97"/>
                </a:solidFill>
                <a:latin typeface="Aptos"/>
              </a:defRPr>
            </a:pPr>
            <a:r>
              <a:t>65.1%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2203704"/>
            <a:ext cx="2194560" cy="29260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5D6E84"/>
                </a:solidFill>
                <a:latin typeface="Aptos"/>
              </a:defRPr>
            </a:pPr>
            <a:r>
              <a:t>Overall demand served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1645920"/>
            <a:ext cx="2468880" cy="9875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A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72200" y="1755648"/>
            <a:ext cx="2194560" cy="38404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2500" b="1">
                <a:solidFill>
                  <a:srgbClr val="248F62"/>
                </a:solidFill>
                <a:latin typeface="Aptos"/>
              </a:defRPr>
            </a:pPr>
            <a:r>
              <a:t>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2203704"/>
            <a:ext cx="2194560" cy="29260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5D6E84"/>
                </a:solidFill>
                <a:latin typeface="Aptos"/>
              </a:defRPr>
            </a:pPr>
            <a:r>
              <a:t>High-priority demand served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0" y="1645920"/>
            <a:ext cx="2468880" cy="9875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A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823960" y="1755648"/>
            <a:ext cx="2194560" cy="38404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2500" b="1">
                <a:solidFill>
                  <a:srgbClr val="EE8F34"/>
                </a:solidFill>
                <a:latin typeface="Aptos"/>
              </a:defRPr>
            </a:pPr>
            <a:r>
              <a:t>1,880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2203704"/>
            <a:ext cx="2194560" cy="29260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5D6E84"/>
                </a:solidFill>
                <a:latin typeface="Aptos"/>
              </a:defRPr>
            </a:pPr>
            <a:r>
              <a:t>Unmet demand units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063240"/>
            <a:ext cx="4754880" cy="36576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2340"/>
                </a:solidFill>
                <a:latin typeface="Aptos"/>
              </a:defRPr>
            </a:pPr>
            <a:r>
              <a:t>Area-wise satisfaction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611880"/>
            <a:ext cx="2423160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233042"/>
                </a:solidFill>
                <a:latin typeface="Aptos"/>
              </a:defRPr>
            </a:pPr>
            <a:r>
              <a:t>Area 1 — Flood Camp 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37560" y="3630168"/>
            <a:ext cx="2011680" cy="201168"/>
          </a:xfrm>
          <a:prstGeom prst="roundRect">
            <a:avLst>
              <a:gd name="adj" fmla="val 12000"/>
            </a:avLst>
          </a:prstGeom>
          <a:solidFill>
            <a:srgbClr val="DAE3EE"/>
          </a:solidFill>
          <a:ln>
            <a:solidFill>
              <a:srgbClr val="DA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3337560" y="3630168"/>
            <a:ext cx="2011680" cy="201168"/>
          </a:xfrm>
          <a:prstGeom prst="roundRect">
            <a:avLst>
              <a:gd name="adj" fmla="val 12000"/>
            </a:avLst>
          </a:prstGeom>
          <a:solidFill>
            <a:srgbClr val="248F62"/>
          </a:solidFill>
          <a:ln>
            <a:solidFill>
              <a:srgbClr val="248F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440680" y="3611880"/>
            <a:ext cx="59436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122340"/>
                </a:solidFill>
                <a:latin typeface="Aptos"/>
              </a:defRPr>
            </a:pPr>
            <a:r>
              <a:t>100%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142232"/>
            <a:ext cx="2423160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233042"/>
                </a:solidFill>
                <a:latin typeface="Aptos"/>
              </a:defRPr>
            </a:pPr>
            <a:r>
              <a:t>Area 2 — Flood Camp B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37560" y="4160520"/>
            <a:ext cx="2011680" cy="201168"/>
          </a:xfrm>
          <a:prstGeom prst="roundRect">
            <a:avLst>
              <a:gd name="adj" fmla="val 12000"/>
            </a:avLst>
          </a:prstGeom>
          <a:solidFill>
            <a:srgbClr val="DAE3EE"/>
          </a:solidFill>
          <a:ln>
            <a:solidFill>
              <a:srgbClr val="DA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3337560" y="4160520"/>
            <a:ext cx="752368" cy="201168"/>
          </a:xfrm>
          <a:prstGeom prst="roundRect">
            <a:avLst>
              <a:gd name="adj" fmla="val 12000"/>
            </a:avLst>
          </a:prstGeom>
          <a:solidFill>
            <a:srgbClr val="EE8F34"/>
          </a:solidFill>
          <a:ln>
            <a:solidFill>
              <a:srgbClr val="EE8F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440680" y="4142232"/>
            <a:ext cx="59436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122340"/>
                </a:solidFill>
                <a:latin typeface="Aptos"/>
              </a:defRPr>
            </a:pPr>
            <a:r>
              <a:t>37.4%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4672584"/>
            <a:ext cx="2423160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233042"/>
                </a:solidFill>
                <a:latin typeface="Aptos"/>
              </a:defRPr>
            </a:pPr>
            <a:r>
              <a:t>Area 3 — Village 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37560" y="4690872"/>
            <a:ext cx="2011680" cy="201168"/>
          </a:xfrm>
          <a:prstGeom prst="roundRect">
            <a:avLst>
              <a:gd name="adj" fmla="val 12000"/>
            </a:avLst>
          </a:prstGeom>
          <a:solidFill>
            <a:srgbClr val="DAE3EE"/>
          </a:solidFill>
          <a:ln>
            <a:solidFill>
              <a:srgbClr val="DA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440680" y="4672584"/>
            <a:ext cx="59436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122340"/>
                </a:solidFill>
                <a:latin typeface="Aptos"/>
              </a:defRPr>
            </a:pPr>
            <a:r>
              <a:t>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5202936"/>
            <a:ext cx="2423160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233042"/>
                </a:solidFill>
                <a:latin typeface="Aptos"/>
              </a:defRPr>
            </a:pPr>
            <a:r>
              <a:t>Area 4 — Town 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337560" y="5221223"/>
            <a:ext cx="2011680" cy="201168"/>
          </a:xfrm>
          <a:prstGeom prst="roundRect">
            <a:avLst>
              <a:gd name="adj" fmla="val 12000"/>
            </a:avLst>
          </a:prstGeom>
          <a:solidFill>
            <a:srgbClr val="DAE3EE"/>
          </a:solidFill>
          <a:ln>
            <a:solidFill>
              <a:srgbClr val="DA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3337560" y="5221223"/>
            <a:ext cx="2011680" cy="201168"/>
          </a:xfrm>
          <a:prstGeom prst="roundRect">
            <a:avLst>
              <a:gd name="adj" fmla="val 12000"/>
            </a:avLst>
          </a:prstGeom>
          <a:solidFill>
            <a:srgbClr val="248F62"/>
          </a:solidFill>
          <a:ln>
            <a:solidFill>
              <a:srgbClr val="248F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440680" y="5202936"/>
            <a:ext cx="59436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122340"/>
                </a:solidFill>
                <a:latin typeface="Aptos"/>
              </a:defRPr>
            </a:pPr>
            <a:r>
              <a:t>100%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37960" y="3246120"/>
            <a:ext cx="4572000" cy="2148840"/>
          </a:xfrm>
          <a:prstGeom prst="roundRect">
            <a:avLst>
              <a:gd name="adj" fmla="val 12000"/>
            </a:avLst>
          </a:prstGeom>
          <a:solidFill>
            <a:srgbClr val="F1F6FC"/>
          </a:solidFill>
          <a:ln>
            <a:solidFill>
              <a:srgbClr val="DA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537960" y="3246120"/>
            <a:ext cx="73152" cy="2148840"/>
          </a:xfrm>
          <a:prstGeom prst="rect">
            <a:avLst/>
          </a:prstGeom>
          <a:solidFill>
            <a:srgbClr val="199D97"/>
          </a:solidFill>
          <a:ln>
            <a:solidFill>
              <a:srgbClr val="199D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739128" y="3410712"/>
            <a:ext cx="420624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2340"/>
                </a:solidFill>
                <a:latin typeface="Aptos"/>
              </a:defRPr>
            </a:pPr>
            <a:r>
              <a:t>HOW TO INTERPRET THIS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39128" y="3840480"/>
            <a:ext cx="3876639" cy="1100301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233042"/>
                </a:solidFill>
                <a:latin typeface="Aptos"/>
              </a:defRPr>
            </a:pPr>
            <a:r>
              <a:rPr dirty="0"/>
              <a:t>Both high-priority areas are fully served in this sample.</a:t>
            </a:r>
            <a:endParaRPr lang="en-US" dirty="0"/>
          </a:p>
          <a:p>
            <a:pPr>
              <a:spcAft>
                <a:spcPts val="700"/>
              </a:spcAft>
              <a:defRPr sz="1200" b="0">
                <a:solidFill>
                  <a:srgbClr val="233042"/>
                </a:solidFill>
                <a:latin typeface="Aptos"/>
              </a:defRPr>
            </a:pPr>
            <a:r>
              <a:rPr dirty="0"/>
              <a:t> Some medium- and low-priority demand remains unmet </a:t>
            </a:r>
            <a:endParaRPr lang="en-US" dirty="0"/>
          </a:p>
          <a:p>
            <a:pPr>
              <a:spcAft>
                <a:spcPts val="700"/>
              </a:spcAft>
              <a:defRPr sz="1200" b="0">
                <a:solidFill>
                  <a:srgbClr val="233042"/>
                </a:solidFill>
                <a:latin typeface="Aptos"/>
              </a:defRPr>
            </a:pPr>
            <a:r>
              <a:rPr dirty="0"/>
              <a:t>because supplies and transport capacity are limited. </a:t>
            </a:r>
            <a:endParaRPr lang="en-US" dirty="0"/>
          </a:p>
          <a:p>
            <a:pPr>
              <a:spcAft>
                <a:spcPts val="700"/>
              </a:spcAft>
              <a:defRPr sz="1200" b="0">
                <a:solidFill>
                  <a:srgbClr val="233042"/>
                </a:solidFill>
                <a:latin typeface="Aptos"/>
              </a:defRPr>
            </a:pPr>
            <a:r>
              <a:rPr dirty="0"/>
              <a:t>Results depend on the input data and model settings.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" y="5989320"/>
            <a:ext cx="10424160" cy="2286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5D6E84"/>
                </a:solidFill>
                <a:latin typeface="Aptos"/>
              </a:defRPr>
            </a:pPr>
            <a:r>
              <a:t>These are demonstration results—not live operational recommendations.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97765"/>
            <a:ext cx="7108228" cy="584775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22340"/>
                </a:solidFill>
                <a:latin typeface="Aptos"/>
              </a:defRPr>
            </a:pPr>
            <a:r>
              <a:rPr sz="3200" dirty="0"/>
              <a:t>What it does—and what it does not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556555" y="909385"/>
            <a:ext cx="990010" cy="54864"/>
          </a:xfrm>
          <a:prstGeom prst="rect">
            <a:avLst/>
          </a:prstGeom>
          <a:solidFill>
            <a:srgbClr val="2864E6"/>
          </a:solidFill>
          <a:ln>
            <a:solidFill>
              <a:srgbClr val="2864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201400" y="6473952"/>
            <a:ext cx="45720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spcAft>
                <a:spcPts val="700"/>
              </a:spcAft>
              <a:defRPr sz="1000" b="0">
                <a:solidFill>
                  <a:srgbClr val="5D6E84"/>
                </a:solidFill>
                <a:latin typeface="Aptos"/>
              </a:defRPr>
            </a:pPr>
            <a: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212080" cy="1965960"/>
          </a:xfrm>
          <a:prstGeom prst="roundRect">
            <a:avLst>
              <a:gd name="adj" fmla="val 12000"/>
            </a:avLst>
          </a:prstGeom>
          <a:solidFill>
            <a:srgbClr val="F1F6FC"/>
          </a:solidFill>
          <a:ln>
            <a:solidFill>
              <a:srgbClr val="DA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1737360"/>
            <a:ext cx="73152" cy="1965960"/>
          </a:xfrm>
          <a:prstGeom prst="rect">
            <a:avLst/>
          </a:prstGeom>
          <a:solidFill>
            <a:srgbClr val="248F62"/>
          </a:solidFill>
          <a:ln>
            <a:solidFill>
              <a:srgbClr val="248F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484632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2340"/>
                </a:solidFill>
                <a:latin typeface="Aptos"/>
              </a:defRPr>
            </a:pPr>
            <a:r>
              <a:t>CURRENT CAPABILITIES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331720"/>
            <a:ext cx="4846320" cy="128016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233042"/>
                </a:solidFill>
                <a:latin typeface="Aptos"/>
              </a:defRPr>
            </a:pPr>
            <a:r>
              <a:t>• Allocates multiple resources</a:t>
            </a:r>
          </a:p>
          <a:p>
            <a:pPr>
              <a:spcAft>
                <a:spcPts val="700"/>
              </a:spcAft>
              <a:defRPr sz="1200" b="0">
                <a:solidFill>
                  <a:srgbClr val="233042"/>
                </a:solidFill>
                <a:latin typeface="Aptos"/>
              </a:defRPr>
            </a:pPr>
            <a:r>
              <a:t>• Models supply, demand and vehicle capacity</a:t>
            </a:r>
          </a:p>
          <a:p>
            <a:pPr>
              <a:spcAft>
                <a:spcPts val="700"/>
              </a:spcAft>
              <a:defRPr sz="1200" b="0">
                <a:solidFill>
                  <a:srgbClr val="233042"/>
                </a:solidFill>
                <a:latin typeface="Aptos"/>
              </a:defRPr>
            </a:pPr>
            <a:r>
              <a:t>• Includes priority-aware shortage penalties</a:t>
            </a:r>
          </a:p>
          <a:p>
            <a:pPr>
              <a:spcAft>
                <a:spcPts val="700"/>
              </a:spcAft>
              <a:defRPr sz="1200" b="0">
                <a:solidFill>
                  <a:srgbClr val="233042"/>
                </a:solidFill>
                <a:latin typeface="Aptos"/>
              </a:defRPr>
            </a:pPr>
            <a:r>
              <a:t>• Calculates and displays a shipment plan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737360"/>
            <a:ext cx="5212080" cy="1965960"/>
          </a:xfrm>
          <a:prstGeom prst="roundRect">
            <a:avLst>
              <a:gd name="adj" fmla="val 12000"/>
            </a:avLst>
          </a:prstGeom>
          <a:solidFill>
            <a:srgbClr val="F1F6FC"/>
          </a:solidFill>
          <a:ln>
            <a:solidFill>
              <a:srgbClr val="DA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17920" y="1737360"/>
            <a:ext cx="73152" cy="1965960"/>
          </a:xfrm>
          <a:prstGeom prst="rect">
            <a:avLst/>
          </a:prstGeom>
          <a:solidFill>
            <a:srgbClr val="EE8F34"/>
          </a:solidFill>
          <a:ln>
            <a:solidFill>
              <a:srgbClr val="EE8F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19088" y="1901952"/>
            <a:ext cx="484632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2340"/>
                </a:solidFill>
                <a:latin typeface="Aptos"/>
              </a:defRPr>
            </a:pPr>
            <a:r>
              <a:t>CURRENT LIMITATIONS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9088" y="2331720"/>
            <a:ext cx="4846320" cy="128016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233042"/>
                </a:solidFill>
                <a:latin typeface="Aptos"/>
              </a:defRPr>
            </a:pPr>
            <a:r>
              <a:t>• Uses sample/input transportation costs</a:t>
            </a:r>
          </a:p>
          <a:p>
            <a:pPr>
              <a:spcAft>
                <a:spcPts val="700"/>
              </a:spcAft>
              <a:defRPr sz="1200" b="0">
                <a:solidFill>
                  <a:srgbClr val="233042"/>
                </a:solidFill>
                <a:latin typeface="Aptos"/>
              </a:defRPr>
            </a:pPr>
            <a:r>
              <a:t>• Does not compute live road routes or traffic</a:t>
            </a:r>
          </a:p>
          <a:p>
            <a:pPr>
              <a:spcAft>
                <a:spcPts val="700"/>
              </a:spcAft>
              <a:defRPr sz="1200" b="0">
                <a:solidFill>
                  <a:srgbClr val="233042"/>
                </a:solidFill>
                <a:latin typeface="Aptos"/>
              </a:defRPr>
            </a:pPr>
            <a:r>
              <a:t>• Does not track individual trucks in real time</a:t>
            </a:r>
          </a:p>
          <a:p>
            <a:pPr>
              <a:spcAft>
                <a:spcPts val="700"/>
              </a:spcAft>
              <a:defRPr sz="1200" b="0">
                <a:solidFill>
                  <a:srgbClr val="233042"/>
                </a:solidFill>
                <a:latin typeface="Aptos"/>
              </a:defRPr>
            </a:pPr>
            <a:r>
              <a:t>• Results are only as reliable as model assumptions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251960"/>
            <a:ext cx="10469880" cy="914400"/>
          </a:xfrm>
          <a:prstGeom prst="roundRect">
            <a:avLst>
              <a:gd name="adj" fmla="val 12000"/>
            </a:avLst>
          </a:prstGeom>
          <a:solidFill>
            <a:srgbClr val="F1F6FC"/>
          </a:solidFill>
          <a:ln>
            <a:solidFill>
              <a:srgbClr val="DA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51560" y="4462272"/>
            <a:ext cx="10012680" cy="4572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spcAft>
                <a:spcPts val="700"/>
              </a:spcAft>
              <a:defRPr sz="1500" b="1">
                <a:solidFill>
                  <a:srgbClr val="122340"/>
                </a:solidFill>
                <a:latin typeface="Aptos"/>
              </a:defRPr>
            </a:pPr>
            <a:r>
              <a:t>Next validation: check the objective and constraints in optimization/model.py and test edge cases before real-world use.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806440"/>
            <a:ext cx="1042416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5D6E84"/>
                </a:solidFill>
                <a:latin typeface="Aptos"/>
              </a:defRPr>
            </a:pPr>
            <a:r>
              <a:rPr dirty="0"/>
              <a:t>This is a decision-support prototype, not a replacement for emergency-management authorities.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26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9D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58368" y="475488"/>
            <a:ext cx="3154680" cy="310896"/>
          </a:xfrm>
          <a:prstGeom prst="roundRect">
            <a:avLst>
              <a:gd name="adj" fmla="val 12000"/>
            </a:avLst>
          </a:prstGeom>
          <a:solidFill>
            <a:srgbClr val="1F9D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2376" y="489204"/>
            <a:ext cx="3026664" cy="265176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GROUP 14  •  DISASTER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932688"/>
            <a:ext cx="10424160" cy="65836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3100" b="1" i="0">
                <a:solidFill>
                  <a:srgbClr val="FFFFFF"/>
                </a:solidFill>
                <a:latin typeface="Aptos"/>
              </a:rPr>
              <a:t>LIVE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1627632"/>
            <a:ext cx="9875520" cy="38404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600" b="0" i="0">
                <a:solidFill>
                  <a:srgbClr val="C5D5EC"/>
                </a:solidFill>
                <a:latin typeface="Aptos"/>
              </a:rPr>
              <a:t>Explore the working Disaster Relief Distribution Optimizer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267712"/>
            <a:ext cx="10808208" cy="1261872"/>
          </a:xfrm>
          <a:prstGeom prst="roundRect">
            <a:avLst>
              <a:gd name="adj" fmla="val 12000"/>
            </a:avLst>
          </a:prstGeom>
          <a:solidFill>
            <a:srgbClr val="1C3353"/>
          </a:solidFill>
          <a:ln>
            <a:solidFill>
              <a:srgbClr val="375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32688" y="2468880"/>
            <a:ext cx="228600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 i="0">
                <a:solidFill>
                  <a:srgbClr val="1F9D94"/>
                </a:solidFill>
                <a:latin typeface="Aptos"/>
              </a:rPr>
              <a:t>OPEN THE WEB 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761488"/>
            <a:ext cx="9875520" cy="4114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Aptos"/>
                <a:hlinkClick r:id="rId2"/>
              </a:rPr>
              <a:t>https://disaster-relief-optimizer-m8hg.onrender.com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3675887"/>
            <a:ext cx="1042416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400" b="0" i="0">
                <a:solidFill>
                  <a:srgbClr val="C5D5EC"/>
                </a:solidFill>
                <a:latin typeface="Aptos"/>
              </a:rPr>
              <a:t>Use the sample scenario, edit inputs, then run the optimizer to inspect the shipment plan.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4343400"/>
            <a:ext cx="3246120" cy="1024128"/>
          </a:xfrm>
          <a:prstGeom prst="roundRect">
            <a:avLst>
              <a:gd name="adj" fmla="val 12000"/>
            </a:avLst>
          </a:prstGeom>
          <a:solidFill>
            <a:srgbClr val="EF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59536" y="4480560"/>
            <a:ext cx="475488" cy="29260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400" b="1" i="0">
                <a:solidFill>
                  <a:srgbClr val="2A62DC"/>
                </a:solidFill>
                <a:latin typeface="Aptos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53312" y="4462272"/>
            <a:ext cx="2331720" cy="31089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700" b="1" i="0">
                <a:solidFill>
                  <a:srgbClr val="132642"/>
                </a:solidFill>
                <a:latin typeface="Aptos"/>
              </a:rPr>
              <a:t>Configure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828032"/>
            <a:ext cx="2926080" cy="40233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100" b="0" i="0">
                <a:solidFill>
                  <a:srgbClr val="53657C"/>
                </a:solidFill>
                <a:latin typeface="Aptos"/>
              </a:rPr>
              <a:t>Set supplies, demand, priorities and transport costs.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24528" y="4343400"/>
            <a:ext cx="3246120" cy="1024128"/>
          </a:xfrm>
          <a:prstGeom prst="roundRect">
            <a:avLst>
              <a:gd name="adj" fmla="val 12000"/>
            </a:avLst>
          </a:prstGeom>
          <a:solidFill>
            <a:srgbClr val="EF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70832" y="4480560"/>
            <a:ext cx="475488" cy="29260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400" b="1" i="0">
                <a:solidFill>
                  <a:srgbClr val="2A62DC"/>
                </a:solidFill>
                <a:latin typeface="Apto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4462272"/>
            <a:ext cx="2331720" cy="31089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700" b="1" i="0">
                <a:solidFill>
                  <a:srgbClr val="132642"/>
                </a:solidFill>
                <a:latin typeface="Aptos"/>
              </a:rPr>
              <a:t>Optimize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79976" y="4828032"/>
            <a:ext cx="2926080" cy="40233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100" b="0" i="0">
                <a:solidFill>
                  <a:srgbClr val="53657C"/>
                </a:solidFill>
                <a:latin typeface="Aptos"/>
              </a:rPr>
              <a:t>Run the model to calculate a shipment plan.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35823" y="4343400"/>
            <a:ext cx="3246120" cy="1024128"/>
          </a:xfrm>
          <a:prstGeom prst="roundRect">
            <a:avLst>
              <a:gd name="adj" fmla="val 12000"/>
            </a:avLst>
          </a:prstGeom>
          <a:solidFill>
            <a:srgbClr val="EF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882127" y="4480560"/>
            <a:ext cx="475488" cy="29260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400" b="1" i="0">
                <a:solidFill>
                  <a:srgbClr val="2A62DC"/>
                </a:solidFill>
                <a:latin typeface="Apto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75903" y="4462272"/>
            <a:ext cx="2331720" cy="31089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700" b="1" i="0">
                <a:solidFill>
                  <a:srgbClr val="132642"/>
                </a:solidFill>
                <a:latin typeface="Aptos"/>
              </a:rPr>
              <a:t>Review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91271" y="4828032"/>
            <a:ext cx="2926080" cy="40233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100" b="0" i="0">
                <a:solidFill>
                  <a:srgbClr val="53657C"/>
                </a:solidFill>
                <a:latin typeface="Aptos"/>
              </a:rPr>
              <a:t>Inspect cost, served demand and remaining shortages.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5989320"/>
            <a:ext cx="10607040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100" b="0" i="1">
                <a:solidFill>
                  <a:srgbClr val="C5D5EC"/>
                </a:solidFill>
                <a:latin typeface="Aptos"/>
              </a:rPr>
              <a:t>Prototype demonstration • Outputs depend on the entered data and model assumptions.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11712" y="6473952"/>
            <a:ext cx="256032" cy="1828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r"/>
            <a:r>
              <a:rPr sz="900" b="0" i="0">
                <a:solidFill>
                  <a:srgbClr val="C5D5EC"/>
                </a:solidFill>
                <a:latin typeface="Aptos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5110771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5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874519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9D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13232" y="411480"/>
            <a:ext cx="3182112" cy="310896"/>
          </a:xfrm>
          <a:prstGeom prst="roundRect">
            <a:avLst>
              <a:gd name="adj" fmla="val 12000"/>
            </a:avLst>
          </a:prstGeom>
          <a:solidFill>
            <a:srgbClr val="1F9D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425196"/>
            <a:ext cx="3054096" cy="265176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GROUP 14  •  DISASTER MANAGEMENT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41248"/>
            <a:ext cx="5852160" cy="65836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ptos"/>
              </a:rPr>
              <a:t>Thank 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463040"/>
            <a:ext cx="530352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500" b="0" i="0">
                <a:solidFill>
                  <a:srgbClr val="CCDBF1"/>
                </a:solidFill>
                <a:latin typeface="Aptos"/>
              </a:rPr>
              <a:t>Questions &amp; Discussion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029968"/>
            <a:ext cx="2743200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700" b="1" i="0">
                <a:solidFill>
                  <a:srgbClr val="132642"/>
                </a:solidFill>
                <a:latin typeface="Aptos"/>
              </a:rPr>
              <a:t>PROJECT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40864"/>
            <a:ext cx="713232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0" i="0">
                <a:solidFill>
                  <a:srgbClr val="53657C"/>
                </a:solidFill>
                <a:latin typeface="Aptos"/>
              </a:rPr>
              <a:t>Disaster Relief Distribution Optimizer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29968"/>
            <a:ext cx="4937760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r"/>
            <a:r>
              <a:rPr sz="1200" b="1" i="0">
                <a:solidFill>
                  <a:srgbClr val="1F9D94"/>
                </a:solidFill>
                <a:latin typeface="Aptos"/>
              </a:rPr>
              <a:t>Proposed contribution split • Total = 100%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8" y="2724912"/>
            <a:ext cx="5193792" cy="3931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7E4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59536" y="2756916"/>
            <a:ext cx="1115568" cy="30175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900" b="1" i="0">
                <a:solidFill>
                  <a:srgbClr val="2A62DC"/>
                </a:solidFill>
                <a:latin typeface="Aptos"/>
              </a:rPr>
              <a:t>2501AI04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29967" y="2756916"/>
            <a:ext cx="2971800" cy="30175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100" b="1" i="0">
                <a:solidFill>
                  <a:srgbClr val="132642"/>
                </a:solidFill>
                <a:latin typeface="Aptos"/>
              </a:rPr>
              <a:t>CH. Satyam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93208" y="2756916"/>
            <a:ext cx="658368" cy="30175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r"/>
            <a:r>
              <a:rPr sz="1100" b="1" i="0">
                <a:solidFill>
                  <a:srgbClr val="1F9D94"/>
                </a:solidFill>
                <a:latin typeface="Aptos"/>
              </a:rPr>
              <a:t>12%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9808" y="3227832"/>
            <a:ext cx="5193792" cy="3931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7E4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59536" y="3259836"/>
            <a:ext cx="1115568" cy="30175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900" b="1" i="0">
                <a:solidFill>
                  <a:srgbClr val="2A62DC"/>
                </a:solidFill>
                <a:latin typeface="Aptos"/>
              </a:rPr>
              <a:t>2501AI43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29967" y="3259836"/>
            <a:ext cx="2971800" cy="30175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100" b="1" i="0">
                <a:solidFill>
                  <a:srgbClr val="132642"/>
                </a:solidFill>
                <a:latin typeface="Aptos"/>
              </a:rPr>
              <a:t>P. Uday Kumar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93208" y="3259836"/>
            <a:ext cx="658368" cy="30175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r"/>
            <a:r>
              <a:rPr sz="1100" b="1" i="0">
                <a:solidFill>
                  <a:srgbClr val="1F9D94"/>
                </a:solidFill>
                <a:latin typeface="Aptos"/>
              </a:rPr>
              <a:t>12%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3730752"/>
            <a:ext cx="5193792" cy="3931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7E4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59536" y="3762756"/>
            <a:ext cx="1115568" cy="30175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900" b="1" i="0">
                <a:solidFill>
                  <a:srgbClr val="2A62DC"/>
                </a:solidFill>
                <a:latin typeface="Aptos"/>
              </a:rPr>
              <a:t>2501AI09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29967" y="3762756"/>
            <a:ext cx="2971800" cy="30175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100" b="1" i="0">
                <a:solidFill>
                  <a:srgbClr val="132642"/>
                </a:solidFill>
                <a:latin typeface="Aptos"/>
              </a:rPr>
              <a:t>K. Surya Pratap Reddy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93208" y="3762756"/>
            <a:ext cx="658368" cy="30175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r"/>
            <a:r>
              <a:rPr sz="1100" b="1" i="0">
                <a:solidFill>
                  <a:srgbClr val="1F9D94"/>
                </a:solidFill>
                <a:latin typeface="Aptos"/>
              </a:rPr>
              <a:t>12%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4233672"/>
            <a:ext cx="5193792" cy="3931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7E4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59536" y="4265676"/>
            <a:ext cx="1115568" cy="30175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900" b="1" i="0">
                <a:solidFill>
                  <a:srgbClr val="2A62DC"/>
                </a:solidFill>
                <a:latin typeface="Aptos"/>
              </a:rPr>
              <a:t>2501AI17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29967" y="4265676"/>
            <a:ext cx="2971800" cy="30175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100" b="1" i="0">
                <a:solidFill>
                  <a:srgbClr val="132642"/>
                </a:solidFill>
                <a:latin typeface="Aptos"/>
              </a:rPr>
              <a:t>P. Balaji Ram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93208" y="4265676"/>
            <a:ext cx="658368" cy="30175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r"/>
            <a:r>
              <a:rPr sz="1100" b="1" i="0">
                <a:solidFill>
                  <a:srgbClr val="1F9D94"/>
                </a:solidFill>
                <a:latin typeface="Aptos"/>
              </a:rPr>
              <a:t>12%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9808" y="4736592"/>
            <a:ext cx="5193792" cy="3931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7E4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59536" y="4768596"/>
            <a:ext cx="1115568" cy="30175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900" b="1" i="0">
                <a:solidFill>
                  <a:srgbClr val="2A62DC"/>
                </a:solidFill>
                <a:latin typeface="Aptos"/>
              </a:rPr>
              <a:t>2501AI19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29967" y="4768596"/>
            <a:ext cx="2971800" cy="30175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100" b="1" i="0">
                <a:solidFill>
                  <a:srgbClr val="132642"/>
                </a:solidFill>
                <a:latin typeface="Aptos"/>
              </a:rPr>
              <a:t>M. Nishanth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93208" y="4768596"/>
            <a:ext cx="658368" cy="30175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r"/>
            <a:r>
              <a:rPr sz="1100" b="1" i="0">
                <a:solidFill>
                  <a:srgbClr val="1F9D94"/>
                </a:solidFill>
                <a:latin typeface="Aptos"/>
              </a:rPr>
              <a:t>12%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09360" y="2724912"/>
            <a:ext cx="5193792" cy="3931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7E4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19088" y="2756916"/>
            <a:ext cx="1115568" cy="30175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900" b="1" i="0">
                <a:solidFill>
                  <a:srgbClr val="2A62DC"/>
                </a:solidFill>
                <a:latin typeface="Aptos"/>
              </a:rPr>
              <a:t>2501AI08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0" y="2756916"/>
            <a:ext cx="2971800" cy="30175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100" b="1" i="0">
                <a:solidFill>
                  <a:srgbClr val="132642"/>
                </a:solidFill>
                <a:latin typeface="Aptos"/>
              </a:rPr>
              <a:t>N. Vignesh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52760" y="2756916"/>
            <a:ext cx="658368" cy="30175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r"/>
            <a:r>
              <a:rPr sz="1100" b="1" i="0">
                <a:solidFill>
                  <a:srgbClr val="1F9D94"/>
                </a:solidFill>
                <a:latin typeface="Aptos"/>
              </a:rPr>
              <a:t>10%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09360" y="3227832"/>
            <a:ext cx="5193792" cy="3931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7E4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19088" y="3259836"/>
            <a:ext cx="1115568" cy="30175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900" b="1" i="0">
                <a:solidFill>
                  <a:srgbClr val="2A62DC"/>
                </a:solidFill>
                <a:latin typeface="Aptos"/>
              </a:rPr>
              <a:t>2501CS06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9520" y="3259836"/>
            <a:ext cx="2971800" cy="30175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100" b="1" i="0">
                <a:solidFill>
                  <a:srgbClr val="132642"/>
                </a:solidFill>
                <a:latin typeface="Aptos"/>
              </a:rPr>
              <a:t>T. Jayanth Naga Sai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52760" y="3259836"/>
            <a:ext cx="658368" cy="30175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r"/>
            <a:r>
              <a:rPr sz="1100" b="1" i="0">
                <a:solidFill>
                  <a:srgbClr val="1F9D94"/>
                </a:solidFill>
                <a:latin typeface="Aptos"/>
              </a:rPr>
              <a:t>10%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309360" y="3730752"/>
            <a:ext cx="5193792" cy="3931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7E4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419088" y="3762756"/>
            <a:ext cx="1115568" cy="30175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900" b="1" i="0">
                <a:solidFill>
                  <a:srgbClr val="2A62DC"/>
                </a:solidFill>
                <a:latin typeface="Aptos"/>
              </a:rPr>
              <a:t>2501CS45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89520" y="3762756"/>
            <a:ext cx="2971800" cy="30175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100" b="1" i="0">
                <a:solidFill>
                  <a:srgbClr val="132642"/>
                </a:solidFill>
                <a:latin typeface="Aptos"/>
              </a:rPr>
              <a:t>G. Arun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52760" y="3762756"/>
            <a:ext cx="658368" cy="30175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r"/>
            <a:r>
              <a:rPr sz="1100" b="1" i="0">
                <a:solidFill>
                  <a:srgbClr val="1F9D94"/>
                </a:solidFill>
                <a:latin typeface="Aptos"/>
              </a:rPr>
              <a:t>10%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309360" y="4233672"/>
            <a:ext cx="5193792" cy="3931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7E4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419088" y="4265676"/>
            <a:ext cx="1115568" cy="30175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900" b="1" i="0">
                <a:solidFill>
                  <a:srgbClr val="2A62DC"/>
                </a:solidFill>
                <a:latin typeface="Aptos"/>
              </a:rPr>
              <a:t>2501AI42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89520" y="4265676"/>
            <a:ext cx="2971800" cy="30175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100" b="1" i="0">
                <a:solidFill>
                  <a:srgbClr val="132642"/>
                </a:solidFill>
                <a:latin typeface="Aptos"/>
              </a:rPr>
              <a:t>B. Abhinandhan Goud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52760" y="4265676"/>
            <a:ext cx="658368" cy="30175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r"/>
            <a:r>
              <a:rPr sz="1100" b="1" i="0">
                <a:solidFill>
                  <a:srgbClr val="1F9D94"/>
                </a:solidFill>
                <a:latin typeface="Aptos"/>
              </a:rPr>
              <a:t>10%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49808" y="5422392"/>
            <a:ext cx="10652760" cy="502920"/>
          </a:xfrm>
          <a:prstGeom prst="roundRect">
            <a:avLst>
              <a:gd name="adj" fmla="val 12000"/>
            </a:avLst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914400" y="5495544"/>
            <a:ext cx="10332720" cy="32918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ptos"/>
              </a:rPr>
              <a:t>Efficient allocation. Fairer priorities. Better-informed relief planning.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9808" y="6053328"/>
            <a:ext cx="1088136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800" b="0" i="0">
                <a:solidFill>
                  <a:srgbClr val="53657C"/>
                </a:solidFill>
                <a:latin typeface="Aptos"/>
              </a:rPr>
              <a:t>Live demo: disaster-relief-optimizer-m8hg.onrender.com  •  Source code: github.com/chintalapudisatyam/disaster_relief_optimizer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9808" y="6318504"/>
            <a:ext cx="10881360" cy="20116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900" b="0" i="1">
                <a:solidFill>
                  <a:srgbClr val="53657C"/>
                </a:solidFill>
                <a:latin typeface="Aptos"/>
              </a:rPr>
              <a:t>Percentages are a proposed split; adjust them to reflect actual contributions.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11712" y="6510528"/>
            <a:ext cx="256032" cy="16459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r"/>
            <a:r>
              <a:rPr sz="900" b="0" i="0">
                <a:solidFill>
                  <a:srgbClr val="53657C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</TotalTime>
  <Words>976</Words>
  <Application>Microsoft Office PowerPoint</Application>
  <PresentationFormat>Widescreen</PresentationFormat>
  <Paragraphs>221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Disaster Relief Distribution Optimizer</dc:title>
  <dc:subject>Problem statement, optimization approach, website workflow, sample results and demo link</dc:subject>
  <dc:creator>OpenAI</dc:creator>
  <cp:keywords>disaster relief, linear programming, optimization, distribution</cp:keywords>
  <dc:description>generated using python-pptx</dc:description>
  <cp:lastModifiedBy>Chintalapudi Satyam</cp:lastModifiedBy>
  <cp:revision>15</cp:revision>
  <dcterms:created xsi:type="dcterms:W3CDTF">2013-01-27T09:14:16Z</dcterms:created>
  <dcterms:modified xsi:type="dcterms:W3CDTF">2026-10-29T20:17:05Z</dcterms:modified>
  <cp:category/>
</cp:coreProperties>
</file>